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is the information ratio against cash plus 4 percent, which is the competition's scoring metric. Gross figure first, net of 20bps beside it. Beta is the neutrality evidence and is checked before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holding is named by ticker and full company name. The short book is more liquid than the long book: median daily dollar volume $1175.9m against long leg $546.0m.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text answer is a measured null with three independent lines of evidence, plus one signal that the aggregate was hiding. That is a result, not a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is the only year that trails the hurdle. 2022's +38% coincides with a -19% market and is the period we treat as non-repeatable.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Beta with its standard error is the neutrality evidence the rules ask for. The rolling chart is the one they say separates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 exposure sits inside a self-imposed +/-30% cap, wider than we would like, and it is the price of reaching beta neutrality.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Contributors chart names every stock by ticker and company name, as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page the rules are really asking for: did it do what you trained it to, what drove it, and what would you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731520" y="1371600"/>
            <a:ext cx="10698480" cy="7772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US Equity Market-Neutral</a:t>
            </a:r>
            <a:endParaRPr lang="en-US" sz="4400" dirty="0"/>
          </a:p>
        </p:txBody>
      </p:sp>
      <p:sp>
        <p:nvSpPr>
          <p:cNvPr id="3" name="Text 1"/>
          <p:cNvSpPr txBox="1"/>
          <p:nvPr/>
        </p:nvSpPr>
        <p:spPr>
          <a:xfrm>
            <a:off x="731520" y="2212848"/>
            <a:ext cx="9692640" cy="54864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Gradient-boosted trees on 147 firm characteristics, traded through a sector-, size- and beta-residualised long/short book</a:t>
            </a:r>
            <a:endParaRPr lang="en-US" sz="1500" dirty="0"/>
          </a:p>
        </p:txBody>
      </p:sp>
      <p:sp>
        <p:nvSpPr>
          <p:cNvPr id="4" name="Shape 2"/>
          <p:cNvSpPr/>
          <p:nvPr/>
        </p:nvSpPr>
        <p:spPr>
          <a:xfrm>
            <a:off x="731520" y="3154680"/>
            <a:ext cx="2560320" cy="1417320"/>
          </a:xfrm>
          <a:prstGeom prst="roundRect">
            <a:avLst>
              <a:gd name="adj" fmla="val 3871"/>
            </a:avLst>
          </a:prstGeom>
          <a:solidFill>
            <a:srgbClr val="2A3670"/>
          </a:solidFill>
          <a:ln w="12700">
            <a:solidFill>
              <a:srgbClr val="2A3670"/>
            </a:solidFill>
            <a:prstDash val="solid"/>
          </a:ln>
        </p:spPr>
      </p:sp>
      <p:sp>
        <p:nvSpPr>
          <p:cNvPr id="5" name="Text 3"/>
          <p:cNvSpPr txBox="1"/>
          <p:nvPr/>
        </p:nvSpPr>
        <p:spPr>
          <a:xfrm>
            <a:off x="914400"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INFORMATION RATIO</a:t>
            </a:r>
            <a:endParaRPr lang="en-US" sz="900" dirty="0"/>
          </a:p>
        </p:txBody>
      </p:sp>
      <p:sp>
        <p:nvSpPr>
          <p:cNvPr id="6" name="Text 4"/>
          <p:cNvSpPr txBox="1"/>
          <p:nvPr/>
        </p:nvSpPr>
        <p:spPr>
          <a:xfrm>
            <a:off x="914400"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+0.85</a:t>
            </a:r>
            <a:endParaRPr lang="en-US" sz="2800" dirty="0"/>
          </a:p>
        </p:txBody>
      </p:sp>
      <p:sp>
        <p:nvSpPr>
          <p:cNvPr id="7" name="Text 5"/>
          <p:cNvSpPr txBox="1"/>
          <p:nvPr/>
        </p:nvSpPr>
        <p:spPr>
          <a:xfrm>
            <a:off x="914400"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vs 3M T-bill + 4%, gross</a:t>
            </a:r>
            <a:endParaRPr lang="en-US" sz="900" dirty="0"/>
          </a:p>
        </p:txBody>
      </p:sp>
      <p:sp>
        <p:nvSpPr>
          <p:cNvPr id="8" name="Shape 6"/>
          <p:cNvSpPr/>
          <p:nvPr/>
        </p:nvSpPr>
        <p:spPr>
          <a:xfrm>
            <a:off x="3493008" y="3154680"/>
            <a:ext cx="2560320" cy="1417320"/>
          </a:xfrm>
          <a:prstGeom prst="roundRect">
            <a:avLst>
              <a:gd name="adj" fmla="val 3871"/>
            </a:avLst>
          </a:prstGeom>
          <a:solidFill>
            <a:srgbClr val="2A3670"/>
          </a:solidFill>
          <a:ln w="12700">
            <a:solidFill>
              <a:srgbClr val="2A3670"/>
            </a:solidFill>
            <a:prstDash val="solid"/>
          </a:ln>
        </p:spPr>
      </p:sp>
      <p:sp>
        <p:nvSpPr>
          <p:cNvPr id="9" name="Text 7"/>
          <p:cNvSpPr txBox="1"/>
          <p:nvPr/>
        </p:nvSpPr>
        <p:spPr>
          <a:xfrm>
            <a:off x="3675888"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IR AFTER 20BPS</a:t>
            </a:r>
            <a:endParaRPr lang="en-US" sz="900" dirty="0"/>
          </a:p>
        </p:txBody>
      </p:sp>
      <p:sp>
        <p:nvSpPr>
          <p:cNvPr id="10" name="Text 8"/>
          <p:cNvSpPr txBox="1"/>
          <p:nvPr/>
        </p:nvSpPr>
        <p:spPr>
          <a:xfrm>
            <a:off x="3675888"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+0.68</a:t>
            </a:r>
            <a:endParaRPr lang="en-US" sz="2800" dirty="0"/>
          </a:p>
        </p:txBody>
      </p:sp>
      <p:sp>
        <p:nvSpPr>
          <p:cNvPr id="11" name="Text 9"/>
          <p:cNvSpPr txBox="1"/>
          <p:nvPr/>
        </p:nvSpPr>
        <p:spPr>
          <a:xfrm>
            <a:off x="3675888"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trading costs applied</a:t>
            </a:r>
            <a:endParaRPr lang="en-US" sz="900" dirty="0"/>
          </a:p>
        </p:txBody>
      </p:sp>
      <p:sp>
        <p:nvSpPr>
          <p:cNvPr id="12" name="Shape 10"/>
          <p:cNvSpPr/>
          <p:nvPr/>
        </p:nvSpPr>
        <p:spPr>
          <a:xfrm>
            <a:off x="6254496" y="3154680"/>
            <a:ext cx="2560320" cy="1417320"/>
          </a:xfrm>
          <a:prstGeom prst="roundRect">
            <a:avLst>
              <a:gd name="adj" fmla="val 3871"/>
            </a:avLst>
          </a:prstGeom>
          <a:solidFill>
            <a:srgbClr val="2A3670"/>
          </a:solidFill>
          <a:ln w="12700">
            <a:solidFill>
              <a:srgbClr val="2A3670"/>
            </a:solidFill>
            <a:prstDash val="solid"/>
          </a:ln>
        </p:spPr>
      </p:sp>
      <p:sp>
        <p:nvSpPr>
          <p:cNvPr id="13" name="Text 11"/>
          <p:cNvSpPr txBox="1"/>
          <p:nvPr/>
        </p:nvSpPr>
        <p:spPr>
          <a:xfrm>
            <a:off x="6437376"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BETA VS S&amp;P 500</a:t>
            </a:r>
            <a:endParaRPr lang="en-US" sz="900" dirty="0"/>
          </a:p>
        </p:txBody>
      </p:sp>
      <p:sp>
        <p:nvSpPr>
          <p:cNvPr id="14" name="Text 12"/>
          <p:cNvSpPr txBox="1"/>
          <p:nvPr/>
        </p:nvSpPr>
        <p:spPr>
          <a:xfrm>
            <a:off x="6437376"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-0.121</a:t>
            </a:r>
            <a:endParaRPr lang="en-US" sz="2800" dirty="0"/>
          </a:p>
        </p:txBody>
      </p:sp>
      <p:sp>
        <p:nvSpPr>
          <p:cNvPr id="15" name="Text 13"/>
          <p:cNvSpPr txBox="1"/>
          <p:nvPr/>
        </p:nvSpPr>
        <p:spPr>
          <a:xfrm>
            <a:off x="6437376"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se=0.125</a:t>
            </a:r>
            <a:endParaRPr lang="en-US" sz="900" dirty="0"/>
          </a:p>
        </p:txBody>
      </p:sp>
      <p:sp>
        <p:nvSpPr>
          <p:cNvPr id="16" name="Shape 14"/>
          <p:cNvSpPr/>
          <p:nvPr/>
        </p:nvSpPr>
        <p:spPr>
          <a:xfrm>
            <a:off x="9015984" y="3154680"/>
            <a:ext cx="2560320" cy="1417320"/>
          </a:xfrm>
          <a:prstGeom prst="roundRect">
            <a:avLst>
              <a:gd name="adj" fmla="val 3871"/>
            </a:avLst>
          </a:prstGeom>
          <a:solidFill>
            <a:srgbClr val="2A3670"/>
          </a:solidFill>
          <a:ln w="12700">
            <a:solidFill>
              <a:srgbClr val="2A3670"/>
            </a:solidFill>
            <a:prstDash val="solid"/>
          </a:ln>
        </p:spPr>
      </p:sp>
      <p:sp>
        <p:nvSpPr>
          <p:cNvPr id="17" name="Text 15"/>
          <p:cNvSpPr txBox="1"/>
          <p:nvPr/>
        </p:nvSpPr>
        <p:spPr>
          <a:xfrm>
            <a:off x="9198864"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MAX DRAWDOWN</a:t>
            </a:r>
            <a:endParaRPr lang="en-US" sz="900" dirty="0"/>
          </a:p>
        </p:txBody>
      </p:sp>
      <p:sp>
        <p:nvSpPr>
          <p:cNvPr id="18" name="Text 16"/>
          <p:cNvSpPr txBox="1"/>
          <p:nvPr/>
        </p:nvSpPr>
        <p:spPr>
          <a:xfrm>
            <a:off x="9198864"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-7.46%</a:t>
            </a:r>
            <a:endParaRPr lang="en-US" sz="2800" dirty="0"/>
          </a:p>
        </p:txBody>
      </p:sp>
      <p:sp>
        <p:nvSpPr>
          <p:cNvPr id="19" name="Text 17"/>
          <p:cNvSpPr txBox="1"/>
          <p:nvPr/>
        </p:nvSpPr>
        <p:spPr>
          <a:xfrm>
            <a:off x="9198864"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monthly marks</a:t>
            </a:r>
            <a:endParaRPr lang="en-US" sz="900" dirty="0"/>
          </a:p>
        </p:txBody>
      </p:sp>
      <p:sp>
        <p:nvSpPr>
          <p:cNvPr id="20" name="Text 18"/>
          <p:cNvSpPr txBox="1"/>
          <p:nvPr/>
        </p:nvSpPr>
        <p:spPr>
          <a:xfrm>
            <a:off x="731520" y="4892040"/>
            <a:ext cx="10698480" cy="27432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Evaluation window </a:t>
            </a:r>
            <a:pPr indent="0" marL="0">
              <a:buNone/>
            </a:pPr>
            <a:r>
              <a:rPr lang="en-US" sz="1200" b="1" dirty="0">
                <a:solidFill>
                  <a:srgbClr val="FFFFFF"/>
                </a:solidFill>
                <a:latin typeface="Calibri" pitchFamily="34" charset="0"/>
                <a:ea typeface="Calibri" pitchFamily="34" charset="-122"/>
                <a:cs typeface="Calibri" pitchFamily="34" charset="-120"/>
              </a:rPr>
              <a:t>2021-01 to 2026-08 (68 months)</a:t>
            </a:r>
            <a:pPr indent="0" marL="0">
              <a:buNone/>
            </a:pPr>
            <a:r>
              <a:rPr lang="en-US" sz="1200" dirty="0">
                <a:solidFill>
                  <a:srgbClr val="CADCFC"/>
                </a:solidFill>
                <a:latin typeface="Calibri" pitchFamily="34" charset="0"/>
                <a:ea typeface="Calibri" pitchFamily="34" charset="-122"/>
                <a:cs typeface="Calibri" pitchFamily="34" charset="-120"/>
              </a:rPr>
              <a:t>   ·   200 names   ·   200% gross   ·   net +13.0%</a:t>
            </a:r>
            <a:endParaRPr lang="en-US" sz="1200" dirty="0"/>
          </a:p>
        </p:txBody>
      </p:sp>
      <p:sp>
        <p:nvSpPr>
          <p:cNvPr id="21" name="Text 19"/>
          <p:cNvSpPr txBox="1"/>
          <p:nvPr/>
        </p:nvSpPr>
        <p:spPr>
          <a:xfrm>
            <a:off x="731520" y="5349240"/>
            <a:ext cx="10698480" cy="685800"/>
          </a:xfrm>
          <a:prstGeom prst="rect">
            <a:avLst/>
          </a:prstGeom>
          <a:noFill/>
          <a:ln/>
        </p:spPr>
        <p:txBody>
          <a:bodyPr wrap="square" lIns="0" tIns="0" rIns="0" bIns="0" rtlCol="0" anchor="ctr"/>
          <a:lstStyle/>
          <a:p>
            <a:pPr indent="0" marL="0">
              <a:buNone/>
            </a:pPr>
            <a:r>
              <a:rPr lang="en-US" sz="1200" i="1" dirty="0">
                <a:solidFill>
                  <a:srgbClr val="CADCFC"/>
                </a:solidFill>
                <a:latin typeface="Calibri" pitchFamily="34" charset="0"/>
                <a:ea typeface="Calibri" pitchFamily="34" charset="-122"/>
                <a:cs typeface="Calibri" pitchFamily="34" charset="-120"/>
              </a:rPr>
              <a:t>The alpha changed legs mid-period. 2021-22 came almost entirely from the short book during the speculative unwind; since 2023 it has come from the long book. We do not claim the first is repeatable.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The strategy</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Rank, then remove everything we are not trying to bet on</a:t>
            </a:r>
            <a:endParaRPr lang="en-US" sz="1300" dirty="0"/>
          </a:p>
        </p:txBody>
      </p:sp>
      <p:sp>
        <p:nvSpPr>
          <p:cNvPr id="4" name="Shape 2"/>
          <p:cNvSpPr/>
          <p:nvPr/>
        </p:nvSpPr>
        <p:spPr>
          <a:xfrm>
            <a:off x="566928" y="1627632"/>
            <a:ext cx="347472" cy="347472"/>
          </a:xfrm>
          <a:prstGeom prst="ellipse">
            <a:avLst/>
          </a:prstGeom>
          <a:solidFill>
            <a:srgbClr val="1E2761"/>
          </a:solidFill>
          <a:ln w="12700">
            <a:solidFill>
              <a:srgbClr val="1E2761"/>
            </a:solidFill>
            <a:prstDash val="solid"/>
          </a:ln>
        </p:spPr>
      </p:sp>
      <p:sp>
        <p:nvSpPr>
          <p:cNvPr id="5" name="Text 3"/>
          <p:cNvSpPr txBox="1"/>
          <p:nvPr/>
        </p:nvSpPr>
        <p:spPr>
          <a:xfrm>
            <a:off x="566928" y="1673352"/>
            <a:ext cx="34747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1042416" y="1572768"/>
            <a:ext cx="1920240"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Screen</a:t>
            </a:r>
            <a:endParaRPr lang="en-US" sz="1300" dirty="0"/>
          </a:p>
        </p:txBody>
      </p:sp>
      <p:sp>
        <p:nvSpPr>
          <p:cNvPr id="7" name="Text 5"/>
          <p:cNvSpPr txBox="1"/>
          <p:nvPr/>
        </p:nvSpPr>
        <p:spPr>
          <a:xfrm>
            <a:off x="1042416" y="1847088"/>
            <a:ext cx="5029200" cy="603504"/>
          </a:xfrm>
          <a:prstGeom prst="rect">
            <a:avLst/>
          </a:prstGeom>
          <a:noFill/>
          <a:ln/>
        </p:spPr>
        <p:txBody>
          <a:bodyPr wrap="square" lIns="0" tIns="0" rIns="0" bIns="0" rtlCol="0" anchor="ctr"/>
          <a:lstStyle/>
          <a:p>
            <a:pPr indent="0" marL="0">
              <a:lnSpc>
                <a:spcPct val="100000"/>
              </a:lnSpc>
              <a:buNone/>
            </a:pPr>
            <a:r>
              <a:rPr lang="en-US" sz="1050" dirty="0">
                <a:solidFill>
                  <a:srgbClr val="1A1A1A"/>
                </a:solidFill>
                <a:latin typeface="Calibri" pitchFamily="34" charset="0"/>
                <a:ea typeface="Calibri" pitchFamily="34" charset="-122"/>
                <a:cs typeface="Calibri" pitchFamily="34" charset="-120"/>
              </a:rPr>
              <a:t>Price &gt;= $5, no nano or micro caps. Without it the short book fills with penny stocks: median cap $50m, and -48% in January 2021 alone.</a:t>
            </a:r>
            <a:endParaRPr lang="en-US" sz="1050" dirty="0"/>
          </a:p>
        </p:txBody>
      </p:sp>
      <p:sp>
        <p:nvSpPr>
          <p:cNvPr id="8" name="Shape 6"/>
          <p:cNvSpPr/>
          <p:nvPr/>
        </p:nvSpPr>
        <p:spPr>
          <a:xfrm>
            <a:off x="566928" y="2560320"/>
            <a:ext cx="347472" cy="347472"/>
          </a:xfrm>
          <a:prstGeom prst="ellipse">
            <a:avLst/>
          </a:prstGeom>
          <a:solidFill>
            <a:srgbClr val="1E2761"/>
          </a:solidFill>
          <a:ln w="12700">
            <a:solidFill>
              <a:srgbClr val="1E2761"/>
            </a:solidFill>
            <a:prstDash val="solid"/>
          </a:ln>
        </p:spPr>
      </p:sp>
      <p:sp>
        <p:nvSpPr>
          <p:cNvPr id="9" name="Text 7"/>
          <p:cNvSpPr txBox="1"/>
          <p:nvPr/>
        </p:nvSpPr>
        <p:spPr>
          <a:xfrm>
            <a:off x="566928" y="2606040"/>
            <a:ext cx="34747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042416" y="2505456"/>
            <a:ext cx="1920240"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Residualise</a:t>
            </a:r>
            <a:endParaRPr lang="en-US" sz="1300" dirty="0"/>
          </a:p>
        </p:txBody>
      </p:sp>
      <p:sp>
        <p:nvSpPr>
          <p:cNvPr id="11" name="Text 9"/>
          <p:cNvSpPr txBox="1"/>
          <p:nvPr/>
        </p:nvSpPr>
        <p:spPr>
          <a:xfrm>
            <a:off x="1042416" y="2779776"/>
            <a:ext cx="5029200" cy="603504"/>
          </a:xfrm>
          <a:prstGeom prst="rect">
            <a:avLst/>
          </a:prstGeom>
          <a:noFill/>
          <a:ln/>
        </p:spPr>
        <p:txBody>
          <a:bodyPr wrap="square" lIns="0" tIns="0" rIns="0" bIns="0" rtlCol="0" anchor="ctr"/>
          <a:lstStyle/>
          <a:p>
            <a:pPr indent="0" marL="0">
              <a:lnSpc>
                <a:spcPct val="100000"/>
              </a:lnSpc>
              <a:buNone/>
            </a:pPr>
            <a:r>
              <a:rPr lang="en-US" sz="1050" dirty="0">
                <a:solidFill>
                  <a:srgbClr val="1A1A1A"/>
                </a:solidFill>
                <a:latin typeface="Calibri" pitchFamily="34" charset="0"/>
                <a:ea typeface="Calibri" pitchFamily="34" charset="-122"/>
                <a:cs typeface="Calibri" pitchFamily="34" charset="-120"/>
              </a:rPr>
              <a:t>The forecast is regressed on sector, size and beta each month; only the residual is traded. Neutrality is enforced on the signal, not patched onto the weights.</a:t>
            </a:r>
            <a:endParaRPr lang="en-US" sz="1050" dirty="0"/>
          </a:p>
        </p:txBody>
      </p:sp>
      <p:sp>
        <p:nvSpPr>
          <p:cNvPr id="12" name="Shape 10"/>
          <p:cNvSpPr/>
          <p:nvPr/>
        </p:nvSpPr>
        <p:spPr>
          <a:xfrm>
            <a:off x="566928" y="3493008"/>
            <a:ext cx="347472" cy="347472"/>
          </a:xfrm>
          <a:prstGeom prst="ellipse">
            <a:avLst/>
          </a:prstGeom>
          <a:solidFill>
            <a:srgbClr val="1E2761"/>
          </a:solidFill>
          <a:ln w="12700">
            <a:solidFill>
              <a:srgbClr val="1E2761"/>
            </a:solidFill>
            <a:prstDash val="solid"/>
          </a:ln>
        </p:spPr>
      </p:sp>
      <p:sp>
        <p:nvSpPr>
          <p:cNvPr id="13" name="Text 11"/>
          <p:cNvSpPr txBox="1"/>
          <p:nvPr/>
        </p:nvSpPr>
        <p:spPr>
          <a:xfrm>
            <a:off x="566928" y="3538728"/>
            <a:ext cx="34747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txBox="1"/>
          <p:nvPr/>
        </p:nvSpPr>
        <p:spPr>
          <a:xfrm>
            <a:off x="1042416" y="3438144"/>
            <a:ext cx="1920240"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Smooth</a:t>
            </a:r>
            <a:endParaRPr lang="en-US" sz="1300" dirty="0"/>
          </a:p>
        </p:txBody>
      </p:sp>
      <p:sp>
        <p:nvSpPr>
          <p:cNvPr id="15" name="Text 13"/>
          <p:cNvSpPr txBox="1"/>
          <p:nvPr/>
        </p:nvSpPr>
        <p:spPr>
          <a:xfrm>
            <a:off x="1042416" y="3712464"/>
            <a:ext cx="5029200" cy="603504"/>
          </a:xfrm>
          <a:prstGeom prst="rect">
            <a:avLst/>
          </a:prstGeom>
          <a:noFill/>
          <a:ln/>
        </p:spPr>
        <p:txBody>
          <a:bodyPr wrap="square" lIns="0" tIns="0" rIns="0" bIns="0" rtlCol="0" anchor="ctr"/>
          <a:lstStyle/>
          <a:p>
            <a:pPr indent="0" marL="0">
              <a:lnSpc>
                <a:spcPct val="100000"/>
              </a:lnSpc>
              <a:buNone/>
            </a:pPr>
            <a:r>
              <a:rPr lang="en-US" sz="1050" dirty="0">
                <a:solidFill>
                  <a:srgbClr val="1A1A1A"/>
                </a:solidFill>
                <a:latin typeface="Calibri" pitchFamily="34" charset="0"/>
                <a:ea typeface="Calibri" pitchFamily="34" charset="-122"/>
                <a:cs typeface="Calibri" pitchFamily="34" charset="-120"/>
              </a:rPr>
              <a:t>Scores averaged over three months. Turnover falls from 56% to 24.6%; break-even cost rises to 93bps.</a:t>
            </a:r>
            <a:endParaRPr lang="en-US" sz="1050" dirty="0"/>
          </a:p>
        </p:txBody>
      </p:sp>
      <p:sp>
        <p:nvSpPr>
          <p:cNvPr id="16" name="Shape 14"/>
          <p:cNvSpPr/>
          <p:nvPr/>
        </p:nvSpPr>
        <p:spPr>
          <a:xfrm>
            <a:off x="566928" y="4425696"/>
            <a:ext cx="347472" cy="347472"/>
          </a:xfrm>
          <a:prstGeom prst="ellipse">
            <a:avLst/>
          </a:prstGeom>
          <a:solidFill>
            <a:srgbClr val="1E2761"/>
          </a:solidFill>
          <a:ln w="12700">
            <a:solidFill>
              <a:srgbClr val="1E2761"/>
            </a:solidFill>
            <a:prstDash val="solid"/>
          </a:ln>
        </p:spPr>
      </p:sp>
      <p:sp>
        <p:nvSpPr>
          <p:cNvPr id="17" name="Text 15"/>
          <p:cNvSpPr txBox="1"/>
          <p:nvPr/>
        </p:nvSpPr>
        <p:spPr>
          <a:xfrm>
            <a:off x="566928" y="4471416"/>
            <a:ext cx="34747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txBox="1"/>
          <p:nvPr/>
        </p:nvSpPr>
        <p:spPr>
          <a:xfrm>
            <a:off x="1042416" y="4370832"/>
            <a:ext cx="1920240"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Size</a:t>
            </a:r>
            <a:endParaRPr lang="en-US" sz="1300" dirty="0"/>
          </a:p>
        </p:txBody>
      </p:sp>
      <p:sp>
        <p:nvSpPr>
          <p:cNvPr id="19" name="Text 17"/>
          <p:cNvSpPr txBox="1"/>
          <p:nvPr/>
        </p:nvSpPr>
        <p:spPr>
          <a:xfrm>
            <a:off x="1042416" y="4645152"/>
            <a:ext cx="5029200" cy="603504"/>
          </a:xfrm>
          <a:prstGeom prst="rect">
            <a:avLst/>
          </a:prstGeom>
          <a:noFill/>
          <a:ln/>
        </p:spPr>
        <p:txBody>
          <a:bodyPr wrap="square" lIns="0" tIns="0" rIns="0" bIns="0" rtlCol="0" anchor="ctr"/>
          <a:lstStyle/>
          <a:p>
            <a:pPr indent="0" marL="0">
              <a:lnSpc>
                <a:spcPct val="100000"/>
              </a:lnSpc>
              <a:buNone/>
            </a:pPr>
            <a:r>
              <a:rPr lang="en-US" sz="1050" dirty="0">
                <a:solidFill>
                  <a:srgbClr val="1A1A1A"/>
                </a:solidFill>
                <a:latin typeface="Calibri" pitchFamily="34" charset="0"/>
                <a:ea typeface="Calibri" pitchFamily="34" charset="-122"/>
                <a:cs typeface="Calibri" pitchFamily="34" charset="-120"/>
              </a:rPr>
              <a:t>Inverse-volatility weights inside each leg, capped near 2%. The information ratio is a ratio - the denominator counts.</a:t>
            </a:r>
            <a:endParaRPr lang="en-US" sz="1050" dirty="0"/>
          </a:p>
        </p:txBody>
      </p:sp>
      <p:sp>
        <p:nvSpPr>
          <p:cNvPr id="20" name="Shape 18"/>
          <p:cNvSpPr/>
          <p:nvPr/>
        </p:nvSpPr>
        <p:spPr>
          <a:xfrm>
            <a:off x="566928" y="5358384"/>
            <a:ext cx="347472" cy="347472"/>
          </a:xfrm>
          <a:prstGeom prst="ellipse">
            <a:avLst/>
          </a:prstGeom>
          <a:solidFill>
            <a:srgbClr val="1E2761"/>
          </a:solidFill>
          <a:ln w="12700">
            <a:solidFill>
              <a:srgbClr val="1E2761"/>
            </a:solidFill>
            <a:prstDash val="solid"/>
          </a:ln>
        </p:spPr>
      </p:sp>
      <p:sp>
        <p:nvSpPr>
          <p:cNvPr id="21" name="Text 19"/>
          <p:cNvSpPr txBox="1"/>
          <p:nvPr/>
        </p:nvSpPr>
        <p:spPr>
          <a:xfrm>
            <a:off x="566928" y="5404104"/>
            <a:ext cx="34747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20"/>
          <p:cNvSpPr txBox="1"/>
          <p:nvPr/>
        </p:nvSpPr>
        <p:spPr>
          <a:xfrm>
            <a:off x="1042416" y="5303520"/>
            <a:ext cx="1920240"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Match beta</a:t>
            </a:r>
            <a:endParaRPr lang="en-US" sz="1300" dirty="0"/>
          </a:p>
        </p:txBody>
      </p:sp>
      <p:sp>
        <p:nvSpPr>
          <p:cNvPr id="23" name="Text 21"/>
          <p:cNvSpPr txBox="1"/>
          <p:nvPr/>
        </p:nvSpPr>
        <p:spPr>
          <a:xfrm>
            <a:off x="1042416" y="5577840"/>
            <a:ext cx="5029200" cy="603504"/>
          </a:xfrm>
          <a:prstGeom prst="rect">
            <a:avLst/>
          </a:prstGeom>
          <a:noFill/>
          <a:ln/>
        </p:spPr>
        <p:txBody>
          <a:bodyPr wrap="square" lIns="0" tIns="0" rIns="0" bIns="0" rtlCol="0" anchor="ctr"/>
          <a:lstStyle/>
          <a:p>
            <a:pPr indent="0" marL="0">
              <a:lnSpc>
                <a:spcPct val="100000"/>
              </a:lnSpc>
              <a:buNone/>
            </a:pPr>
            <a:r>
              <a:rPr lang="en-US" sz="1050" dirty="0">
                <a:solidFill>
                  <a:srgbClr val="1A1A1A"/>
                </a:solidFill>
                <a:latin typeface="Calibri" pitchFamily="34" charset="0"/>
                <a:ea typeface="Calibri" pitchFamily="34" charset="-122"/>
                <a:cs typeface="Calibri" pitchFamily="34" charset="-120"/>
              </a:rPr>
              <a:t>Leg notionals set from each leg's own realised sensitivity over 24 completed months, not from per-stock estimates, which ran 0.30 too high on the long side.</a:t>
            </a:r>
            <a:endParaRPr lang="en-US" sz="1050" dirty="0"/>
          </a:p>
        </p:txBody>
      </p:sp>
      <p:sp>
        <p:nvSpPr>
          <p:cNvPr id="24" name="Text 22"/>
          <p:cNvSpPr txBox="1"/>
          <p:nvPr/>
        </p:nvSpPr>
        <p:spPr>
          <a:xfrm>
            <a:off x="6492240" y="1517904"/>
            <a:ext cx="2651760" cy="237744"/>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Largest average long positions</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92240" y="1792224"/>
          <a:ext cx="5120640" cy="914400"/>
        </p:xfrm>
        <a:graphic>
          <a:graphicData uri="http://schemas.openxmlformats.org/drawingml/2006/table">
            <a:tbl>
              <a:tblPr/>
              <a:tblGrid>
                <a:gridCol w="777240"/>
                <a:gridCol w="3291840"/>
                <a:gridCol w="105156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Ticker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Avg wt</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INCY</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INCYTE CORP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1.18%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GOOGL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ALPHABET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0.89%</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ATEN</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A10 NETWORKS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0.87%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USNA</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USANA HEALTH SCIENCES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0.76%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NNI</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NELNET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0.74%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ISRG</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INTUITIVE SURGICAL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0.73%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FIZZ</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NATIONAL BEVERAGE CORP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0.72%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YELP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YELP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0.69%</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6" name="Text 23"/>
          <p:cNvSpPr txBox="1"/>
          <p:nvPr/>
        </p:nvSpPr>
        <p:spPr>
          <a:xfrm>
            <a:off x="6492240" y="4114800"/>
            <a:ext cx="2651760" cy="237744"/>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Largest average short positions</a:t>
            </a:r>
            <a:endParaRPr lang="en-US" sz="1100" dirty="0"/>
          </a:p>
        </p:txBody>
      </p:sp>
      <p:graphicFrame>
        <p:nvGraphicFramePr>
          <p:cNvPr id="5" name="Table 1"/>
          <p:cNvGraphicFramePr>
            <a:graphicFrameLocks noGrp="1"/>
          </p:cNvGraphicFramePr>
          <p:nvPr>
            <p:extLst>
              <p:ext uri="{D42A27DB-BD31-4B8C-83A1-F6EECF244321}">
                <p14:modId xmlns:p14="http://schemas.microsoft.com/office/powerpoint/2010/main" val="1579011935"/>
              </p:ext>
            </p:extLst>
          </p:nvPr>
        </p:nvGraphicFramePr>
        <p:xfrm>
          <a:off x="6492240" y="4389120"/>
          <a:ext cx="5120640" cy="914400"/>
        </p:xfrm>
        <a:graphic>
          <a:graphicData uri="http://schemas.openxmlformats.org/drawingml/2006/table">
            <a:tbl>
              <a:tblPr/>
              <a:tblGrid>
                <a:gridCol w="777240"/>
                <a:gridCol w="3291840"/>
                <a:gridCol w="105156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Ticker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Avg wt</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LVS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LAS VEGAS SANDS CORP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-0.75%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FSLR</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FIRST SOLAR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-0.73%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RSG</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REPUBLIC SERVICES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-0.68%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DAL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DELTA AIR LINES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-0.66%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NEM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NEWMONT CORP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-0.63%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CME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C M E GROUP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-0.60%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SWCH</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SWITCH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-0.57%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VIRT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VIRTU FINANCIAL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-0.57%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Data and method</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147 supplied characteristics; the 8-K corpus measured and reported</a:t>
            </a:r>
            <a:endParaRPr lang="en-US" sz="1300" dirty="0"/>
          </a:p>
        </p:txBody>
      </p:sp>
      <p:sp>
        <p:nvSpPr>
          <p:cNvPr id="4" name="Text 2"/>
          <p:cNvSpPr txBox="1"/>
          <p:nvPr/>
        </p:nvSpPr>
        <p:spPr>
          <a:xfrm>
            <a:off x="548640" y="1481328"/>
            <a:ext cx="530352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Forecast</a:t>
            </a:r>
            <a:endParaRPr lang="en-US" sz="1300" dirty="0"/>
          </a:p>
        </p:txBody>
      </p:sp>
      <p:sp>
        <p:nvSpPr>
          <p:cNvPr id="5" name="Text 3"/>
          <p:cNvSpPr txBox="1"/>
          <p:nvPr/>
        </p:nvSpPr>
        <p:spPr>
          <a:xfrm>
            <a:off x="548640" y="1773936"/>
            <a:ext cx="539496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Gradient-boosted trees, refit annually on an expanding window with a rolling two-year validation block, split by target month.</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Missing values are NOT imputed for the trees. Missingness is informative - stocks missing the most characteristics have a median cap of $282m against $1,687m.</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The target is demeaned within each month. Fitting raw returns stopped after ONE boosting round: training averaged +0.27%/month against +2.52% in validation.</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Model choice is made inside each fold on that fold's validation block only.</a:t>
            </a:r>
            <a:endParaRPr lang="en-US" sz="1050" dirty="0"/>
          </a:p>
        </p:txBody>
      </p:sp>
      <p:sp>
        <p:nvSpPr>
          <p:cNvPr id="6" name="Text 4"/>
          <p:cNvSpPr txBox="1"/>
          <p:nvPr/>
        </p:nvSpPr>
        <p:spPr>
          <a:xfrm>
            <a:off x="548640" y="3977640"/>
            <a:ext cx="5394960" cy="256032"/>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Out-of-sample R-squared, benchmarked against zero</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4261104"/>
          <a:ext cx="5394960" cy="914400"/>
        </p:xfrm>
        <a:graphic>
          <a:graphicData uri="http://schemas.openxmlformats.org/drawingml/2006/table">
            <a:tbl>
              <a:tblPr/>
              <a:tblGrid>
                <a:gridCol w="2468880"/>
                <a:gridCol w="1463040"/>
                <a:gridCol w="14630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OOS R2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Monthly IC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Gradient-boosted trees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+0.3956%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+0.1354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Ridge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+0.0278%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+0.1193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OLS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-0.0068%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+0.0806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Lasso / Elastic Net</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negative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+0.08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8" name="Text 5"/>
          <p:cNvSpPr txBox="1"/>
          <p:nvPr/>
        </p:nvSpPr>
        <p:spPr>
          <a:xfrm>
            <a:off x="548640" y="5440680"/>
            <a:ext cx="539496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The rules note 1-2% is typical even for neural networks. A large positive number would mean a leak, not skill.</a:t>
            </a:r>
            <a:endParaRPr lang="en-US" sz="1000" dirty="0"/>
          </a:p>
        </p:txBody>
      </p:sp>
      <p:sp>
        <p:nvSpPr>
          <p:cNvPr id="9" name="Text 6"/>
          <p:cNvSpPr txBox="1"/>
          <p:nvPr/>
        </p:nvSpPr>
        <p:spPr>
          <a:xfrm>
            <a:off x="6309360" y="1481328"/>
            <a:ext cx="530352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The 8-K corpus: measured, not assumed</a:t>
            </a:r>
            <a:endParaRPr lang="en-US" sz="1300" dirty="0"/>
          </a:p>
        </p:txBody>
      </p:sp>
      <p:sp>
        <p:nvSpPr>
          <p:cNvPr id="10" name="Text 7"/>
          <p:cNvSpPr txBox="1"/>
          <p:nvPr/>
        </p:nvSpPr>
        <p:spPr>
          <a:xfrm>
            <a:off x="6309360" y="1773936"/>
            <a:ext cx="530352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27 single-signal tests on item codes. None survives a monthly cross-sectional regression with controls.</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Joined into the model: validation rank correlation +0.1087 without, +0.1082 with. No gain.</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The model's own usage agrees - the ten filing columns take 1.71% of its attention against the 6.37% an average feature would.</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One exception: item 5.02 is null in aggregate (+0.046%/mo, t=+0.5) but splits into abrupt departures at -0.640%/mo (t=-1.9) and routine appointments at +0.121%.</a:t>
            </a:r>
            <a:endParaRPr lang="en-US" sz="1050" dirty="0"/>
          </a:p>
        </p:txBody>
      </p:sp>
      <p:sp>
        <p:nvSpPr>
          <p:cNvPr id="11" name="Shape 8"/>
          <p:cNvSpPr/>
          <p:nvPr/>
        </p:nvSpPr>
        <p:spPr>
          <a:xfrm>
            <a:off x="6309360" y="4224528"/>
            <a:ext cx="5303520" cy="1417320"/>
          </a:xfrm>
          <a:prstGeom prst="roundRect">
            <a:avLst>
              <a:gd name="adj" fmla="val 3871"/>
            </a:avLst>
          </a:prstGeom>
          <a:solidFill>
            <a:srgbClr val="F2F5FC"/>
          </a:solidFill>
          <a:ln w="12700">
            <a:solidFill>
              <a:srgbClr val="F2F5FC"/>
            </a:solidFill>
            <a:prstDash val="solid"/>
          </a:ln>
        </p:spPr>
      </p:sp>
      <p:sp>
        <p:nvSpPr>
          <p:cNvPr id="12" name="Text 9"/>
          <p:cNvSpPr txBox="1"/>
          <p:nvPr/>
        </p:nvSpPr>
        <p:spPr>
          <a:xfrm>
            <a:off x="6510528" y="4352544"/>
            <a:ext cx="4937760" cy="237744"/>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The trap worth knowing</a:t>
            </a:r>
            <a:endParaRPr lang="en-US" sz="1100" dirty="0"/>
          </a:p>
        </p:txBody>
      </p:sp>
      <p:sp>
        <p:nvSpPr>
          <p:cNvPr id="13" name="Text 10"/>
          <p:cNvSpPr txBox="1"/>
          <p:nvPr/>
        </p:nvSpPr>
        <p:spPr>
          <a:xfrm>
            <a:off x="6510528" y="4608576"/>
            <a:ext cx="4937760" cy="960120"/>
          </a:xfrm>
          <a:prstGeom prst="rect">
            <a:avLst/>
          </a:prstGeom>
          <a:noFill/>
          <a:ln/>
        </p:spPr>
        <p:txBody>
          <a:bodyPr wrap="square" lIns="0" tIns="0" rIns="0" bIns="0" rtlCol="0" anchor="t"/>
          <a:lstStyle/>
          <a:p>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Item 5.02's own heading contains every keyword worth searching for. Measured raw, "appoint" appears in 99.2% of these filings and the sub-item markers in 88-100%. Strip the heading and they fall to 54.5% and below. Any classifier trained on the unstripped text is learning the title.</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Returns</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2021-01 to 2026-08, 68 months, gross of trading costs unless stated</a:t>
            </a:r>
            <a:endParaRPr lang="en-US" sz="1300" dirty="0"/>
          </a:p>
        </p:txBody>
      </p:sp>
      <p:sp>
        <p:nvSpPr>
          <p:cNvPr id="4" name="Shape 2"/>
          <p:cNvSpPr/>
          <p:nvPr/>
        </p:nvSpPr>
        <p:spPr>
          <a:xfrm>
            <a:off x="548640" y="1517904"/>
            <a:ext cx="2651760" cy="1371600"/>
          </a:xfrm>
          <a:prstGeom prst="roundRect">
            <a:avLst>
              <a:gd name="adj" fmla="val 4000"/>
            </a:avLst>
          </a:prstGeom>
          <a:solidFill>
            <a:srgbClr val="F2F5FC"/>
          </a:solidFill>
          <a:ln w="12700">
            <a:solidFill>
              <a:srgbClr val="F2F5FC"/>
            </a:solidFill>
            <a:prstDash val="solid"/>
          </a:ln>
        </p:spPr>
      </p:sp>
      <p:sp>
        <p:nvSpPr>
          <p:cNvPr id="5" name="Text 3"/>
          <p:cNvSpPr txBox="1"/>
          <p:nvPr/>
        </p:nvSpPr>
        <p:spPr>
          <a:xfrm>
            <a:off x="749808"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ANNUALISED (CAGR)</a:t>
            </a:r>
            <a:endParaRPr lang="en-US" sz="950" dirty="0"/>
          </a:p>
        </p:txBody>
      </p:sp>
      <p:sp>
        <p:nvSpPr>
          <p:cNvPr id="6" name="Text 4"/>
          <p:cNvSpPr txBox="1"/>
          <p:nvPr/>
        </p:nvSpPr>
        <p:spPr>
          <a:xfrm>
            <a:off x="749808"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+19.32%</a:t>
            </a:r>
            <a:endParaRPr lang="en-US" sz="3000" dirty="0"/>
          </a:p>
        </p:txBody>
      </p:sp>
      <p:sp>
        <p:nvSpPr>
          <p:cNvPr id="7" name="Text 5"/>
          <p:cNvSpPr txBox="1"/>
          <p:nvPr/>
        </p:nvSpPr>
        <p:spPr>
          <a:xfrm>
            <a:off x="749808"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arithmetic +18.64%</a:t>
            </a:r>
            <a:endParaRPr lang="en-US" sz="950" dirty="0"/>
          </a:p>
        </p:txBody>
      </p:sp>
      <p:sp>
        <p:nvSpPr>
          <p:cNvPr id="8" name="Shape 6"/>
          <p:cNvSpPr/>
          <p:nvPr/>
        </p:nvSpPr>
        <p:spPr>
          <a:xfrm>
            <a:off x="3364992" y="1517904"/>
            <a:ext cx="2651760" cy="1371600"/>
          </a:xfrm>
          <a:prstGeom prst="roundRect">
            <a:avLst>
              <a:gd name="adj" fmla="val 4000"/>
            </a:avLst>
          </a:prstGeom>
          <a:solidFill>
            <a:srgbClr val="F2F5FC"/>
          </a:solidFill>
          <a:ln w="12700">
            <a:solidFill>
              <a:srgbClr val="F2F5FC"/>
            </a:solidFill>
            <a:prstDash val="solid"/>
          </a:ln>
        </p:spPr>
      </p:sp>
      <p:sp>
        <p:nvSpPr>
          <p:cNvPr id="9" name="Text 7"/>
          <p:cNvSpPr txBox="1"/>
          <p:nvPr/>
        </p:nvSpPr>
        <p:spPr>
          <a:xfrm>
            <a:off x="3566160"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CUMULATIVE</a:t>
            </a:r>
            <a:endParaRPr lang="en-US" sz="950" dirty="0"/>
          </a:p>
        </p:txBody>
      </p:sp>
      <p:sp>
        <p:nvSpPr>
          <p:cNvPr id="10" name="Text 8"/>
          <p:cNvSpPr txBox="1"/>
          <p:nvPr/>
        </p:nvSpPr>
        <p:spPr>
          <a:xfrm>
            <a:off x="3566160"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+172.03%</a:t>
            </a:r>
            <a:endParaRPr lang="en-US" sz="3000" dirty="0"/>
          </a:p>
        </p:txBody>
      </p:sp>
      <p:sp>
        <p:nvSpPr>
          <p:cNvPr id="11" name="Text 9"/>
          <p:cNvSpPr txBox="1"/>
          <p:nvPr/>
        </p:nvSpPr>
        <p:spPr>
          <a:xfrm>
            <a:off x="3566160"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hurdle +50.87%</a:t>
            </a:r>
            <a:endParaRPr lang="en-US" sz="950" dirty="0"/>
          </a:p>
        </p:txBody>
      </p:sp>
      <p:sp>
        <p:nvSpPr>
          <p:cNvPr id="12" name="Shape 10"/>
          <p:cNvSpPr/>
          <p:nvPr/>
        </p:nvSpPr>
        <p:spPr>
          <a:xfrm>
            <a:off x="6181344" y="1517904"/>
            <a:ext cx="2651760" cy="1371600"/>
          </a:xfrm>
          <a:prstGeom prst="roundRect">
            <a:avLst>
              <a:gd name="adj" fmla="val 4000"/>
            </a:avLst>
          </a:prstGeom>
          <a:solidFill>
            <a:srgbClr val="F2F5FC"/>
          </a:solidFill>
          <a:ln w="12700">
            <a:solidFill>
              <a:srgbClr val="F2F5FC"/>
            </a:solidFill>
            <a:prstDash val="solid"/>
          </a:ln>
        </p:spPr>
      </p:sp>
      <p:sp>
        <p:nvSpPr>
          <p:cNvPr id="13" name="Text 11"/>
          <p:cNvSpPr txBox="1"/>
          <p:nvPr/>
        </p:nvSpPr>
        <p:spPr>
          <a:xfrm>
            <a:off x="6382512"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HIT RATE</a:t>
            </a:r>
            <a:endParaRPr lang="en-US" sz="950" dirty="0"/>
          </a:p>
        </p:txBody>
      </p:sp>
      <p:sp>
        <p:nvSpPr>
          <p:cNvPr id="14" name="Text 12"/>
          <p:cNvSpPr txBox="1"/>
          <p:nvPr/>
        </p:nvSpPr>
        <p:spPr>
          <a:xfrm>
            <a:off x="6382512"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61.8%</a:t>
            </a:r>
            <a:endParaRPr lang="en-US" sz="3000" dirty="0"/>
          </a:p>
        </p:txBody>
      </p:sp>
      <p:sp>
        <p:nvSpPr>
          <p:cNvPr id="15" name="Text 13"/>
          <p:cNvSpPr txBox="1"/>
          <p:nvPr/>
        </p:nvSpPr>
        <p:spPr>
          <a:xfrm>
            <a:off x="6382512"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months beating the hurdle</a:t>
            </a:r>
            <a:endParaRPr lang="en-US" sz="950" dirty="0"/>
          </a:p>
        </p:txBody>
      </p:sp>
      <p:sp>
        <p:nvSpPr>
          <p:cNvPr id="16" name="Shape 14"/>
          <p:cNvSpPr/>
          <p:nvPr/>
        </p:nvSpPr>
        <p:spPr>
          <a:xfrm>
            <a:off x="8997696" y="1517904"/>
            <a:ext cx="2615184" cy="1371600"/>
          </a:xfrm>
          <a:prstGeom prst="roundRect">
            <a:avLst>
              <a:gd name="adj" fmla="val 4000"/>
            </a:avLst>
          </a:prstGeom>
          <a:solidFill>
            <a:srgbClr val="F2F5FC"/>
          </a:solidFill>
          <a:ln w="12700">
            <a:solidFill>
              <a:srgbClr val="F2F5FC"/>
            </a:solidFill>
            <a:prstDash val="solid"/>
          </a:ln>
        </p:spPr>
      </p:sp>
      <p:sp>
        <p:nvSpPr>
          <p:cNvPr id="17" name="Text 15"/>
          <p:cNvSpPr txBox="1"/>
          <p:nvPr/>
        </p:nvSpPr>
        <p:spPr>
          <a:xfrm>
            <a:off x="9198864" y="1645920"/>
            <a:ext cx="2212848"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MEAN MONTH</a:t>
            </a:r>
            <a:endParaRPr lang="en-US" sz="950" dirty="0"/>
          </a:p>
        </p:txBody>
      </p:sp>
      <p:sp>
        <p:nvSpPr>
          <p:cNvPr id="18" name="Text 16"/>
          <p:cNvSpPr txBox="1"/>
          <p:nvPr/>
        </p:nvSpPr>
        <p:spPr>
          <a:xfrm>
            <a:off x="9198864" y="1883664"/>
            <a:ext cx="2212848"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+1.553%</a:t>
            </a:r>
            <a:endParaRPr lang="en-US" sz="3000" dirty="0"/>
          </a:p>
        </p:txBody>
      </p:sp>
      <p:sp>
        <p:nvSpPr>
          <p:cNvPr id="19" name="Text 17"/>
          <p:cNvSpPr txBox="1"/>
          <p:nvPr/>
        </p:nvSpPr>
        <p:spPr>
          <a:xfrm>
            <a:off x="9198864" y="2450592"/>
            <a:ext cx="2212848"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best +10.89% / worst -7.46%</a:t>
            </a:r>
            <a:endParaRPr lang="en-US" sz="950" dirty="0"/>
          </a:p>
        </p:txBody>
      </p:sp>
      <p:sp>
        <p:nvSpPr>
          <p:cNvPr id="20" name="Text 18"/>
          <p:cNvSpPr txBox="1"/>
          <p:nvPr/>
        </p:nvSpPr>
        <p:spPr>
          <a:xfrm>
            <a:off x="548640" y="3154680"/>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Calendar years</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3438144"/>
          <a:ext cx="5577840" cy="914400"/>
        </p:xfrm>
        <a:graphic>
          <a:graphicData uri="http://schemas.openxmlformats.org/drawingml/2006/table">
            <a:tbl>
              <a:tblPr/>
              <a:tblGrid>
                <a:gridCol w="1188720"/>
                <a:gridCol w="1463040"/>
                <a:gridCol w="1463040"/>
                <a:gridCol w="14630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Year</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Strategy</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Hurdle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S&amp;P 500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+14.61%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+4.12%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+26.89%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+44.71%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+6.19%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-19.44%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+14.90%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+9.45%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+24.23%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+11.15%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+9.34%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+23.31%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+13.70%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+8.37%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+16.39%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+12.95%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+5.21%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+12.28%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2" name="Text 19"/>
          <p:cNvSpPr txBox="1"/>
          <p:nvPr/>
        </p:nvSpPr>
        <p:spPr>
          <a:xfrm>
            <a:off x="6492240" y="3154680"/>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Where the return came from</a:t>
            </a:r>
            <a:endParaRPr lang="en-US" sz="13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492240" y="3438144"/>
          <a:ext cx="5120640" cy="914400"/>
        </p:xfrm>
        <a:graphic>
          <a:graphicData uri="http://schemas.openxmlformats.org/drawingml/2006/table">
            <a:tbl>
              <a:tblPr/>
              <a:tblGrid>
                <a:gridCol w="2743200"/>
                <a:gridCol w="1188720"/>
                <a:gridCol w="118872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Leg, measured against the eligible universe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2021-22</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2023-26</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Long leg excess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-3.07%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+8.81%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Long leg t-statistic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Short leg excess (negative is good)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-29.35%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-1.61%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Short leg t-statistic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4" name="Text 20"/>
          <p:cNvSpPr txBox="1"/>
          <p:nvPr/>
        </p:nvSpPr>
        <p:spPr>
          <a:xfrm>
            <a:off x="6492240" y="4572000"/>
            <a:ext cx="5120640" cy="731520"/>
          </a:xfrm>
          <a:prstGeom prst="rect">
            <a:avLst/>
          </a:prstGeom>
          <a:noFill/>
          <a:ln/>
        </p:spPr>
        <p:txBody>
          <a:bodyPr wrap="square" lIns="0" tIns="0" rIns="0" bIns="0" rtlCol="0" anchor="ctr"/>
          <a:lstStyle/>
          <a:p>
            <a:pPr indent="0" marL="0">
              <a:lnSpc>
                <a:spcPct val="105000"/>
              </a:lnSpc>
              <a:buNone/>
            </a:pPr>
            <a:r>
              <a:rPr lang="en-US" sz="1000" i="1" dirty="0">
                <a:solidFill>
                  <a:srgbClr val="1A1A1A"/>
                </a:solidFill>
                <a:latin typeface="Calibri" pitchFamily="34" charset="0"/>
                <a:ea typeface="Calibri" pitchFamily="34" charset="-122"/>
                <a:cs typeface="Calibri" pitchFamily="34" charset="-120"/>
              </a:rPr>
              <a:t>Raw contribution conflates a rising market with poor selection. Measured against the universe we could actually trade, the legs take turns: the short book carried 2021-22, the long book carries 2023-26.</a:t>
            </a:r>
            <a:endParaRPr lang="en-US" sz="1000" dirty="0"/>
          </a:p>
        </p:txBody>
      </p:sp>
      <p:pic>
        <p:nvPicPr>
          <p:cNvPr id="25" name="Image 0" descr="C:\Users\junho\AppData\Local\Temp\claude\fiam_team\05_submission\figures\histogram.png">    </p:cNvPr>
          <p:cNvPicPr>
            <a:picLocks noChangeAspect="1"/>
          </p:cNvPicPr>
          <p:nvPr/>
        </p:nvPicPr>
        <p:blipFill>
          <a:blip r:embed="rId1"/>
          <a:stretch>
            <a:fillRect/>
          </a:stretch>
        </p:blipFill>
        <p:spPr>
          <a:xfrm>
            <a:off x="6492240" y="5230368"/>
            <a:ext cx="5120640" cy="148132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Risk-adjusted performance</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The information ratio is the headline; beta is the entry requirement</a:t>
            </a:r>
            <a:endParaRPr lang="en-US" sz="1300" dirty="0"/>
          </a:p>
        </p:txBody>
      </p:sp>
      <p:sp>
        <p:nvSpPr>
          <p:cNvPr id="4" name="Shape 2"/>
          <p:cNvSpPr/>
          <p:nvPr/>
        </p:nvSpPr>
        <p:spPr>
          <a:xfrm>
            <a:off x="548640" y="1517904"/>
            <a:ext cx="2743200" cy="1371600"/>
          </a:xfrm>
          <a:prstGeom prst="roundRect">
            <a:avLst>
              <a:gd name="adj" fmla="val 4000"/>
            </a:avLst>
          </a:prstGeom>
          <a:solidFill>
            <a:srgbClr val="F2F5FC"/>
          </a:solidFill>
          <a:ln w="12700">
            <a:solidFill>
              <a:srgbClr val="F2F5FC"/>
            </a:solidFill>
            <a:prstDash val="solid"/>
          </a:ln>
        </p:spPr>
      </p:sp>
      <p:sp>
        <p:nvSpPr>
          <p:cNvPr id="5" name="Text 3"/>
          <p:cNvSpPr txBox="1"/>
          <p:nvPr/>
        </p:nvSpPr>
        <p:spPr>
          <a:xfrm>
            <a:off x="749808"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INFORMATION RATIO</a:t>
            </a:r>
            <a:endParaRPr lang="en-US" sz="950" dirty="0"/>
          </a:p>
        </p:txBody>
      </p:sp>
      <p:sp>
        <p:nvSpPr>
          <p:cNvPr id="6" name="Text 4"/>
          <p:cNvSpPr txBox="1"/>
          <p:nvPr/>
        </p:nvSpPr>
        <p:spPr>
          <a:xfrm>
            <a:off x="749808"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+0.85</a:t>
            </a:r>
            <a:endParaRPr lang="en-US" sz="3000" dirty="0"/>
          </a:p>
        </p:txBody>
      </p:sp>
      <p:sp>
        <p:nvSpPr>
          <p:cNvPr id="7" name="Text 5"/>
          <p:cNvSpPr txBox="1"/>
          <p:nvPr/>
        </p:nvSpPr>
        <p:spPr>
          <a:xfrm>
            <a:off x="749808"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vs cash + 4%, annualised</a:t>
            </a:r>
            <a:endParaRPr lang="en-US" sz="950" dirty="0"/>
          </a:p>
        </p:txBody>
      </p:sp>
      <p:sp>
        <p:nvSpPr>
          <p:cNvPr id="8" name="Shape 6"/>
          <p:cNvSpPr/>
          <p:nvPr/>
        </p:nvSpPr>
        <p:spPr>
          <a:xfrm>
            <a:off x="3456432" y="1517904"/>
            <a:ext cx="2743200" cy="1371600"/>
          </a:xfrm>
          <a:prstGeom prst="roundRect">
            <a:avLst>
              <a:gd name="adj" fmla="val 4000"/>
            </a:avLst>
          </a:prstGeom>
          <a:solidFill>
            <a:srgbClr val="F2F5FC"/>
          </a:solidFill>
          <a:ln w="12700">
            <a:solidFill>
              <a:srgbClr val="F2F5FC"/>
            </a:solidFill>
            <a:prstDash val="solid"/>
          </a:ln>
        </p:spPr>
      </p:sp>
      <p:sp>
        <p:nvSpPr>
          <p:cNvPr id="9" name="Text 7"/>
          <p:cNvSpPr txBox="1"/>
          <p:nvPr/>
        </p:nvSpPr>
        <p:spPr>
          <a:xfrm>
            <a:off x="3657600"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SHARPE</a:t>
            </a:r>
            <a:endParaRPr lang="en-US" sz="950" dirty="0"/>
          </a:p>
        </p:txBody>
      </p:sp>
      <p:sp>
        <p:nvSpPr>
          <p:cNvPr id="10" name="Text 8"/>
          <p:cNvSpPr txBox="1"/>
          <p:nvPr/>
        </p:nvSpPr>
        <p:spPr>
          <a:xfrm>
            <a:off x="3657600"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+1.15</a:t>
            </a:r>
            <a:endParaRPr lang="en-US" sz="3000" dirty="0"/>
          </a:p>
        </p:txBody>
      </p:sp>
      <p:sp>
        <p:nvSpPr>
          <p:cNvPr id="11" name="Text 9"/>
          <p:cNvSpPr txBox="1"/>
          <p:nvPr/>
        </p:nvSpPr>
        <p:spPr>
          <a:xfrm>
            <a:off x="3657600"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over cash, annualised</a:t>
            </a:r>
            <a:endParaRPr lang="en-US" sz="950" dirty="0"/>
          </a:p>
        </p:txBody>
      </p:sp>
      <p:sp>
        <p:nvSpPr>
          <p:cNvPr id="12" name="Shape 10"/>
          <p:cNvSpPr/>
          <p:nvPr/>
        </p:nvSpPr>
        <p:spPr>
          <a:xfrm>
            <a:off x="6364224" y="1517904"/>
            <a:ext cx="2743200" cy="1371600"/>
          </a:xfrm>
          <a:prstGeom prst="roundRect">
            <a:avLst>
              <a:gd name="adj" fmla="val 4000"/>
            </a:avLst>
          </a:prstGeom>
          <a:solidFill>
            <a:srgbClr val="F2F5FC"/>
          </a:solidFill>
          <a:ln w="12700">
            <a:solidFill>
              <a:srgbClr val="F2F5FC"/>
            </a:solidFill>
            <a:prstDash val="solid"/>
          </a:ln>
        </p:spPr>
      </p:sp>
      <p:sp>
        <p:nvSpPr>
          <p:cNvPr id="13" name="Text 11"/>
          <p:cNvSpPr txBox="1"/>
          <p:nvPr/>
        </p:nvSpPr>
        <p:spPr>
          <a:xfrm>
            <a:off x="6565392"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ALPHA VS S&amp;P 500</a:t>
            </a:r>
            <a:endParaRPr lang="en-US" sz="950" dirty="0"/>
          </a:p>
        </p:txBody>
      </p:sp>
      <p:sp>
        <p:nvSpPr>
          <p:cNvPr id="14" name="Text 12"/>
          <p:cNvSpPr txBox="1"/>
          <p:nvPr/>
        </p:nvSpPr>
        <p:spPr>
          <a:xfrm>
            <a:off x="6565392"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+16.64%</a:t>
            </a:r>
            <a:endParaRPr lang="en-US" sz="3000" dirty="0"/>
          </a:p>
        </p:txBody>
      </p:sp>
      <p:sp>
        <p:nvSpPr>
          <p:cNvPr id="15" name="Text 13"/>
          <p:cNvSpPr txBox="1"/>
          <p:nvPr/>
        </p:nvSpPr>
        <p:spPr>
          <a:xfrm>
            <a:off x="6565392"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t=+3.08</a:t>
            </a:r>
            <a:endParaRPr lang="en-US" sz="950" dirty="0"/>
          </a:p>
        </p:txBody>
      </p:sp>
      <p:sp>
        <p:nvSpPr>
          <p:cNvPr id="16" name="Shape 14"/>
          <p:cNvSpPr/>
          <p:nvPr/>
        </p:nvSpPr>
        <p:spPr>
          <a:xfrm>
            <a:off x="9272016" y="1517904"/>
            <a:ext cx="2340864" cy="1371600"/>
          </a:xfrm>
          <a:prstGeom prst="roundRect">
            <a:avLst>
              <a:gd name="adj" fmla="val 4000"/>
            </a:avLst>
          </a:prstGeom>
          <a:solidFill>
            <a:srgbClr val="F2F5FC"/>
          </a:solidFill>
          <a:ln w="12700">
            <a:solidFill>
              <a:srgbClr val="F2F5FC"/>
            </a:solidFill>
            <a:prstDash val="solid"/>
          </a:ln>
        </p:spPr>
      </p:sp>
      <p:sp>
        <p:nvSpPr>
          <p:cNvPr id="17" name="Text 15"/>
          <p:cNvSpPr txBox="1"/>
          <p:nvPr/>
        </p:nvSpPr>
        <p:spPr>
          <a:xfrm>
            <a:off x="9473184" y="1645920"/>
            <a:ext cx="1938528"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BETA</a:t>
            </a:r>
            <a:endParaRPr lang="en-US" sz="950" dirty="0"/>
          </a:p>
        </p:txBody>
      </p:sp>
      <p:sp>
        <p:nvSpPr>
          <p:cNvPr id="18" name="Text 16"/>
          <p:cNvSpPr txBox="1"/>
          <p:nvPr/>
        </p:nvSpPr>
        <p:spPr>
          <a:xfrm>
            <a:off x="9473184" y="1883664"/>
            <a:ext cx="1938528"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-0.121</a:t>
            </a:r>
            <a:endParaRPr lang="en-US" sz="3000" dirty="0"/>
          </a:p>
        </p:txBody>
      </p:sp>
      <p:sp>
        <p:nvSpPr>
          <p:cNvPr id="19" name="Text 17"/>
          <p:cNvSpPr txBox="1"/>
          <p:nvPr/>
        </p:nvSpPr>
        <p:spPr>
          <a:xfrm>
            <a:off x="9473184" y="2450592"/>
            <a:ext cx="1938528"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se 0.125</a:t>
            </a:r>
            <a:endParaRPr lang="en-US" sz="950" dirty="0"/>
          </a:p>
        </p:txBody>
      </p:sp>
      <p:pic>
        <p:nvPicPr>
          <p:cNvPr id="20" name="Image 0" descr="C:\Users\junho\AppData\Local\Temp\claude\fiam_team\05_submission\figures\rolling_beta.png">    </p:cNvPr>
          <p:cNvPicPr>
            <a:picLocks noChangeAspect="1"/>
          </p:cNvPicPr>
          <p:nvPr/>
        </p:nvPicPr>
        <p:blipFill>
          <a:blip r:embed="rId1"/>
          <a:stretch>
            <a:fillRect/>
          </a:stretch>
        </p:blipFill>
        <p:spPr>
          <a:xfrm>
            <a:off x="548640" y="3154680"/>
            <a:ext cx="5760720" cy="2286000"/>
          </a:xfrm>
          <a:prstGeom prst="rect">
            <a:avLst/>
          </a:prstGeom>
        </p:spPr>
      </p:pic>
      <p:sp>
        <p:nvSpPr>
          <p:cNvPr id="21" name="Text 18"/>
          <p:cNvSpPr txBox="1"/>
          <p:nvPr/>
        </p:nvSpPr>
        <p:spPr>
          <a:xfrm>
            <a:off x="548640" y="5486400"/>
            <a:ext cx="576072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Full-period beta is -0.121. The 12-month window leaves the +/-0.3 band around 2022 - we report that rather than only the average.</a:t>
            </a:r>
            <a:endParaRPr lang="en-US" sz="1000" dirty="0"/>
          </a:p>
        </p:txBody>
      </p:sp>
      <p:sp>
        <p:nvSpPr>
          <p:cNvPr id="22" name="Text 19"/>
          <p:cNvSpPr txBox="1"/>
          <p:nvPr/>
        </p:nvSpPr>
        <p:spPr>
          <a:xfrm>
            <a:off x="6675120" y="3154680"/>
            <a:ext cx="493776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Cost sensitivity</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675120" y="3438144"/>
          <a:ext cx="4937760" cy="914400"/>
        </p:xfrm>
        <a:graphic>
          <a:graphicData uri="http://schemas.openxmlformats.org/drawingml/2006/table">
            <a:tbl>
              <a:tblPr/>
              <a:tblGrid>
                <a:gridCol w="1554480"/>
                <a:gridCol w="1691640"/>
                <a:gridCol w="16916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Cost per trade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Annualised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+19.32%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10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+17.95%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+16.60%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30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+0.59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+15.27%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50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+0.41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+12.64%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4" name="Text 20"/>
          <p:cNvSpPr txBox="1"/>
          <p:nvPr/>
        </p:nvSpPr>
        <p:spPr>
          <a:xfrm>
            <a:off x="6675120" y="5029200"/>
            <a:ext cx="4937760" cy="256032"/>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Break-even cost: 97 bps per trade</a:t>
            </a:r>
            <a:endParaRPr lang="en-US" sz="1150" dirty="0"/>
          </a:p>
        </p:txBody>
      </p:sp>
      <p:sp>
        <p:nvSpPr>
          <p:cNvPr id="25" name="Text 21"/>
          <p:cNvSpPr txBox="1"/>
          <p:nvPr/>
        </p:nvSpPr>
        <p:spPr>
          <a:xfrm>
            <a:off x="6675120" y="5303520"/>
            <a:ext cx="493776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Borrow fees are not modelled. At 25bps trading plus 1%/yr borrow and a haircut on the collateral rate, the information ratio is roughly 0.5 - the number we would rather defend.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Exposure and implementation</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All four trading limits hold in every one of the 68 months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669280" cy="914400"/>
        </p:xfrm>
        <a:graphic>
          <a:graphicData uri="http://schemas.openxmlformats.org/drawingml/2006/table">
            <a:tbl>
              <a:tblPr/>
              <a:tblGrid>
                <a:gridCol w="2286000"/>
                <a:gridCol w="1554480"/>
                <a:gridCol w="1828800"/>
              </a:tblGrid>
              <a:tr h="23774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Measure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Value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Range / note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Holdings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100 long / 100 short</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Gross exposure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200.0%-200.0%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Net exposure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+13.0%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-22.2% to +30.0%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Largest single position</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2.23%</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average 1.000%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Top 10 names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9.7%</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share of gross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Monthly turnover</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24.6%</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15%-41%</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Notional traded</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99% of capital</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per month</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5" name="Text 2"/>
          <p:cNvSpPr txBox="1"/>
          <p:nvPr/>
        </p:nvSpPr>
        <p:spPr>
          <a:xfrm>
            <a:off x="548640" y="3913632"/>
            <a:ext cx="566928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Short-book borrowability</a:t>
            </a:r>
            <a:endParaRPr lang="en-US" sz="13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48640" y="4197096"/>
          <a:ext cx="5669280" cy="914400"/>
        </p:xfrm>
        <a:graphic>
          <a:graphicData uri="http://schemas.openxmlformats.org/drawingml/2006/table">
            <a:tbl>
              <a:tblPr/>
              <a:tblGrid>
                <a:gridCol w="2286000"/>
                <a:gridCol w="1691640"/>
                <a:gridCol w="1691640"/>
              </a:tblGrid>
              <a:tr h="210312">
                <a:tc>
                  <a:txBody>
                    <a:bodyPr/>
                    <a:lstStyle/>
                    <a:p>
                      <a:pPr algn="l" indent="0" marL="0">
                        <a:buNone/>
                      </a:pP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Short leg</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Long leg</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market cap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$3660m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$2540m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daily dollar volume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$1175.9m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$546.0m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price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$28.91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Small cap or below</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48.9%</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nano/micro screened out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7" name="Text 3"/>
          <p:cNvSpPr txBox="1"/>
          <p:nvPr/>
        </p:nvSpPr>
        <p:spPr>
          <a:xfrm>
            <a:off x="548640" y="5486400"/>
            <a:ext cx="566928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The short book is more liquid than the long book. The unscreened version had a $50m median cap and a $2.63 median price.</a:t>
            </a:r>
            <a:endParaRPr lang="en-US" sz="1000" dirty="0"/>
          </a:p>
        </p:txBody>
      </p:sp>
      <p:pic>
        <p:nvPicPr>
          <p:cNvPr id="8" name="Image 0" descr="C:\Users\junho\AppData\Local\Temp\claude\fiam_team\05_submission\figures\underwater.png">    </p:cNvPr>
          <p:cNvPicPr>
            <a:picLocks noChangeAspect="1"/>
          </p:cNvPicPr>
          <p:nvPr/>
        </p:nvPicPr>
        <p:blipFill>
          <a:blip r:embed="rId1"/>
          <a:stretch>
            <a:fillRect/>
          </a:stretch>
        </p:blipFill>
        <p:spPr>
          <a:xfrm>
            <a:off x="6492240" y="1554480"/>
            <a:ext cx="5120640" cy="2057400"/>
          </a:xfrm>
          <a:prstGeom prst="rect">
            <a:avLst/>
          </a:prstGeom>
        </p:spPr>
      </p:pic>
      <p:pic>
        <p:nvPicPr>
          <p:cNvPr id="9" name="Image 1" descr="C:\Users\junho\AppData\Local\Temp\claude\fiam_team\05_submission\figures\rolling_ir.png">    </p:cNvPr>
          <p:cNvPicPr>
            <a:picLocks noChangeAspect="1"/>
          </p:cNvPicPr>
          <p:nvPr/>
        </p:nvPicPr>
        <p:blipFill>
          <a:blip r:embed="rId2"/>
          <a:stretch>
            <a:fillRect/>
          </a:stretch>
        </p:blipFill>
        <p:spPr>
          <a:xfrm>
            <a:off x="6492240" y="3794760"/>
            <a:ext cx="5120640" cy="23774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Cumulative performance</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Strategy against the cash-plus-4% hurdle, with the S&amp;P 500 for context</a:t>
            </a:r>
            <a:endParaRPr lang="en-US" sz="1300" dirty="0"/>
          </a:p>
        </p:txBody>
      </p:sp>
      <p:pic>
        <p:nvPicPr>
          <p:cNvPr id="4" name="Image 0" descr="C:\Users\junho\AppData\Local\Temp\claude\fiam_team\05_submission\figures\cumulative.png">    </p:cNvPr>
          <p:cNvPicPr>
            <a:picLocks noChangeAspect="1"/>
          </p:cNvPicPr>
          <p:nvPr/>
        </p:nvPicPr>
        <p:blipFill>
          <a:blip r:embed="rId1"/>
          <a:stretch>
            <a:fillRect/>
          </a:stretch>
        </p:blipFill>
        <p:spPr>
          <a:xfrm>
            <a:off x="548640" y="1463040"/>
            <a:ext cx="6675120" cy="3200400"/>
          </a:xfrm>
          <a:prstGeom prst="rect">
            <a:avLst/>
          </a:prstGeom>
        </p:spPr>
      </p:pic>
      <p:pic>
        <p:nvPicPr>
          <p:cNvPr id="5" name="Image 1" descr="C:\Users\junho\AppData\Local\Temp\claude\fiam_team\05_submission\figures\contributors.png">    </p:cNvPr>
          <p:cNvPicPr>
            <a:picLocks noChangeAspect="1"/>
          </p:cNvPicPr>
          <p:nvPr/>
        </p:nvPicPr>
        <p:blipFill>
          <a:blip r:embed="rId2"/>
          <a:stretch>
            <a:fillRect/>
          </a:stretch>
        </p:blipFill>
        <p:spPr>
          <a:xfrm>
            <a:off x="7498080" y="1463040"/>
            <a:ext cx="4114800" cy="4023360"/>
          </a:xfrm>
          <a:prstGeom prst="rect">
            <a:avLst/>
          </a:prstGeom>
        </p:spPr>
      </p:pic>
      <p:sp>
        <p:nvSpPr>
          <p:cNvPr id="6" name="Text 2"/>
          <p:cNvSpPr txBox="1"/>
          <p:nvPr/>
        </p:nvSpPr>
        <p:spPr>
          <a:xfrm>
            <a:off x="548640" y="4892040"/>
            <a:ext cx="6675120" cy="1005840"/>
          </a:xfrm>
          <a:prstGeom prst="rect">
            <a:avLst/>
          </a:prstGeom>
          <a:noFill/>
          <a:ln/>
        </p:spPr>
        <p:txBody>
          <a:bodyPr wrap="square" lIns="0" tIns="0" rIns="0" bIns="0" rtlCol="0" anchor="ctr"/>
          <a:lstStyle/>
          <a:p>
            <a:pPr indent="0" marL="0">
              <a:lnSpc>
                <a:spcPct val="105000"/>
              </a:lnSpc>
              <a:buNone/>
            </a:pPr>
            <a:r>
              <a:rPr lang="en-US" sz="1150" b="1" dirty="0">
                <a:solidFill>
                  <a:srgbClr val="1A1A1A"/>
                </a:solidFill>
                <a:latin typeface="Calibri" pitchFamily="34" charset="0"/>
                <a:ea typeface="Calibri" pitchFamily="34" charset="-122"/>
                <a:cs typeface="Calibri" pitchFamily="34" charset="-120"/>
              </a:rPr>
              <a:t>Beating the market is not the objective this year. </a:t>
            </a:r>
            <a:pPr indent="0" marL="0">
              <a:lnSpc>
                <a:spcPct val="105000"/>
              </a:lnSpc>
              <a:buNone/>
            </a:pPr>
            <a:r>
              <a:rPr lang="en-US" sz="1150" dirty="0">
                <a:solidFill>
                  <a:srgbClr val="1A1A1A"/>
                </a:solidFill>
                <a:latin typeface="Calibri" pitchFamily="34" charset="0"/>
                <a:ea typeface="Calibri" pitchFamily="34" charset="-122"/>
                <a:cs typeface="Calibri" pitchFamily="34" charset="-120"/>
              </a:rPr>
              <a:t>The S&amp;P 500 is shown because the rules ask for context and because the regression of our excess returns on the market's is how neutrality is verified. The number that decides the strategy is the distance from the grey hurdle line.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we would tell an investment committee</a:t>
            </a:r>
            <a:endParaRPr lang="en-US" sz="3200" dirty="0"/>
          </a:p>
        </p:txBody>
      </p:sp>
      <p:sp>
        <p:nvSpPr>
          <p:cNvPr id="3" name="Text 1"/>
          <p:cNvSpPr txBox="1"/>
          <p:nvPr/>
        </p:nvSpPr>
        <p:spPr>
          <a:xfrm>
            <a:off x="640080" y="1371600"/>
            <a:ext cx="3520440" cy="292608"/>
          </a:xfrm>
          <a:prstGeom prst="rect">
            <a:avLst/>
          </a:prstGeom>
          <a:noFill/>
          <a:ln/>
        </p:spPr>
        <p:txBody>
          <a:bodyPr wrap="square" lIns="0" tIns="0" rIns="0" bIns="0" rtlCol="0" anchor="ctr"/>
          <a:lstStyle/>
          <a:p>
            <a:pPr indent="0" marL="0">
              <a:buNone/>
            </a:pPr>
            <a:r>
              <a:rPr lang="en-US" sz="1500" b="1" dirty="0">
                <a:solidFill>
                  <a:srgbClr val="CADCFC"/>
                </a:solidFill>
                <a:latin typeface="Calibri" pitchFamily="34" charset="0"/>
                <a:ea typeface="Calibri" pitchFamily="34" charset="-122"/>
                <a:cs typeface="Calibri" pitchFamily="34" charset="-120"/>
              </a:rPr>
              <a:t>What worked</a:t>
            </a:r>
            <a:endParaRPr lang="en-US" sz="1500" dirty="0"/>
          </a:p>
        </p:txBody>
      </p:sp>
      <p:sp>
        <p:nvSpPr>
          <p:cNvPr id="4" name="Text 2"/>
          <p:cNvSpPr txBox="1"/>
          <p:nvPr/>
        </p:nvSpPr>
        <p:spPr>
          <a:xfrm>
            <a:off x="640080" y="1755648"/>
            <a:ext cx="3520440" cy="356616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Portfolio construction moved the book from beta -0.537 to -0.121 and cut drawdown from -30% to -7.46%.</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Alpha survives market, size and value: +13.07%/yr, t=+2.25, R2 0.16. It is not a repackaged factor.</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long leg has genuine selection skill since 2023: +8.81% over the eligible universe, t=+2.4 across 44 months.</a:t>
            </a:r>
            <a:endParaRPr lang="en-US" sz="1150" dirty="0"/>
          </a:p>
        </p:txBody>
      </p:sp>
      <p:sp>
        <p:nvSpPr>
          <p:cNvPr id="5" name="Text 3"/>
          <p:cNvSpPr txBox="1"/>
          <p:nvPr/>
        </p:nvSpPr>
        <p:spPr>
          <a:xfrm>
            <a:off x="4434840" y="1371600"/>
            <a:ext cx="3520440" cy="292608"/>
          </a:xfrm>
          <a:prstGeom prst="rect">
            <a:avLst/>
          </a:prstGeom>
          <a:noFill/>
          <a:ln/>
        </p:spPr>
        <p:txBody>
          <a:bodyPr wrap="square" lIns="0" tIns="0" rIns="0" bIns="0" rtlCol="0" anchor="ctr"/>
          <a:lstStyle/>
          <a:p>
            <a:pPr indent="0" marL="0">
              <a:buNone/>
            </a:pPr>
            <a:r>
              <a:rPr lang="en-US" sz="1500" b="1" dirty="0">
                <a:solidFill>
                  <a:srgbClr val="F3C6C0"/>
                </a:solidFill>
                <a:latin typeface="Calibri" pitchFamily="34" charset="0"/>
                <a:ea typeface="Calibri" pitchFamily="34" charset="-122"/>
                <a:cs typeface="Calibri" pitchFamily="34" charset="-120"/>
              </a:rPr>
              <a:t>What did not</a:t>
            </a:r>
            <a:endParaRPr lang="en-US" sz="1500" dirty="0"/>
          </a:p>
        </p:txBody>
      </p:sp>
      <p:sp>
        <p:nvSpPr>
          <p:cNvPr id="6" name="Text 4"/>
          <p:cNvSpPr txBox="1"/>
          <p:nvPr/>
        </p:nvSpPr>
        <p:spPr>
          <a:xfrm>
            <a:off x="4434840" y="1755648"/>
            <a:ext cx="3520440" cy="356616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short leg's edge was one regime. In the pre-test validation window it pointed the wrong way (+5.42% vs universe); since 2023 it is statistically zero.</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8-K signals add nothing measurable to the forecast, across three independent tests.</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Removing the 5 best months of 68 takes the information ratio from +0.85 to +0.34.</a:t>
            </a:r>
            <a:endParaRPr lang="en-US" sz="1150" dirty="0"/>
          </a:p>
        </p:txBody>
      </p:sp>
      <p:sp>
        <p:nvSpPr>
          <p:cNvPr id="7" name="Text 5"/>
          <p:cNvSpPr txBox="1"/>
          <p:nvPr/>
        </p:nvSpPr>
        <p:spPr>
          <a:xfrm>
            <a:off x="8229600" y="1371600"/>
            <a:ext cx="3520440" cy="292608"/>
          </a:xfrm>
          <a:prstGeom prst="rect">
            <a:avLst/>
          </a:prstGeom>
          <a:noFill/>
          <a:ln/>
        </p:spPr>
        <p:txBody>
          <a:bodyPr wrap="square" lIns="0" tIns="0" rIns="0" bIns="0" rtlCol="0" anchor="ctr"/>
          <a:lstStyle/>
          <a:p>
            <a:pPr indent="0" marL="0">
              <a:buNone/>
            </a:pPr>
            <a:r>
              <a:rPr lang="en-US" sz="1500" b="1" dirty="0">
                <a:solidFill>
                  <a:srgbClr val="CADCFC"/>
                </a:solidFill>
                <a:latin typeface="Calibri" pitchFamily="34" charset="0"/>
                <a:ea typeface="Calibri" pitchFamily="34" charset="-122"/>
                <a:cs typeface="Calibri" pitchFamily="34" charset="-120"/>
              </a:rPr>
              <a:t>What we would say about the future</a:t>
            </a:r>
            <a:endParaRPr lang="en-US" sz="1500" dirty="0"/>
          </a:p>
        </p:txBody>
      </p:sp>
      <p:sp>
        <p:nvSpPr>
          <p:cNvPr id="8" name="Text 6"/>
          <p:cNvSpPr txBox="1"/>
          <p:nvPr/>
        </p:nvSpPr>
        <p:spPr>
          <a:xfrm>
            <a:off x="8229600" y="1755648"/>
            <a:ext cx="3520440" cy="356616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second half of the window runs at +0.36 against +1.34 in the first. The later figure is the more honest forward expectation; 2021-22 dominates the full-period number.</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short book's job is neutrality, not return. We would size it as a hedge, not as a second source of alpha.</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We evaluated the test period 13 times. Nine followed a diagnosed defect; three were genuine trials, one of which we removed after it failed.</a:t>
            </a:r>
            <a:endParaRPr lang="en-US" sz="1150" dirty="0"/>
          </a:p>
        </p:txBody>
      </p:sp>
      <p:sp>
        <p:nvSpPr>
          <p:cNvPr id="9" name="Text 7"/>
          <p:cNvSpPr txBox="1"/>
          <p:nvPr/>
        </p:nvSpPr>
        <p:spPr>
          <a:xfrm>
            <a:off x="640080" y="5577840"/>
            <a:ext cx="10881360" cy="457200"/>
          </a:xfrm>
          <a:prstGeom prst="rect">
            <a:avLst/>
          </a:prstGeom>
          <a:noFill/>
          <a:ln/>
        </p:spPr>
        <p:txBody>
          <a:bodyPr wrap="square" lIns="0" tIns="0" rIns="0" bIns="0" rtlCol="0" anchor="ctr"/>
          <a:lstStyle/>
          <a:p>
            <a:pPr indent="0" marL="0">
              <a:buNone/>
            </a:pPr>
            <a:r>
              <a:rPr lang="en-US" sz="1200" i="1" dirty="0">
                <a:solidFill>
                  <a:srgbClr val="CADCFC"/>
                </a:solidFill>
                <a:latin typeface="Calibri" pitchFamily="34" charset="0"/>
                <a:ea typeface="Calibri" pitchFamily="34" charset="-122"/>
                <a:cs typeface="Calibri" pitchFamily="34" charset="-120"/>
              </a:rPr>
              <a:t>Every one of these was measured, not asserted. The appendix carries the regressions, the research log and the compliance output.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Where the alpha came from, and why it moved</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Each leg measured against the universe it was picked from, which removes market direction</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6492240" cy="914400"/>
        </p:xfrm>
        <a:graphic>
          <a:graphicData uri="http://schemas.openxmlformats.org/drawingml/2006/table">
            <a:tbl>
              <a:tblPr/>
              <a:tblGrid>
                <a:gridCol w="2331720"/>
                <a:gridCol w="1143000"/>
                <a:gridCol w="1508760"/>
                <a:gridCol w="15087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Universe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Long vs universe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Short vs universe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2019-20 (pre-test validation)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+25.03%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+0.85%  (t +0.1)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+5.42%  (t +1.1)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2021-22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-3.07%  (t -0.5)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-29.35%  (t -2.5)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2023-26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+8.81%  (t +2.4)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-1.61%  (t -0.2)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6" name="Text 3"/>
          <p:cNvSpPr txBox="1"/>
          <p:nvPr/>
        </p:nvSpPr>
        <p:spPr>
          <a:xfrm>
            <a:off x="548640" y="2926080"/>
            <a:ext cx="649224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For the short leg a negative number is good: the names we shorted underperformed.</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only window with short-side skill is 2021-22, the speculative unwind. In the pre-test validation window the short leg was the wrong way round.</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Splitting the short book by market cap, price and volatility, EVERY bucket flips positive to negative. No screen repairs it: dropping the extreme-volatility names would have cost 18.8pp of the 2021-22 gain to recover 3.7pp of the later loss.</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2021-22 short alpha survives sector adjustment almost intact (-26.90% vs -25.62%), so it was stock selection inside sectors, not a bet against technology.</a:t>
            </a:r>
            <a:endParaRPr lang="en-US" sz="1100" dirty="0"/>
          </a:p>
        </p:txBody>
      </p:sp>
      <p:sp>
        <p:nvSpPr>
          <p:cNvPr id="7" name="Shape 4"/>
          <p:cNvSpPr/>
          <p:nvPr/>
        </p:nvSpPr>
        <p:spPr>
          <a:xfrm>
            <a:off x="7406640" y="1591056"/>
            <a:ext cx="4206240" cy="2286000"/>
          </a:xfrm>
          <a:prstGeom prst="roundRect">
            <a:avLst>
              <a:gd name="adj" fmla="val 2400"/>
            </a:avLst>
          </a:prstGeom>
          <a:solidFill>
            <a:srgbClr val="F2F5FC"/>
          </a:solidFill>
          <a:ln w="12700">
            <a:solidFill>
              <a:srgbClr val="F2F5FC"/>
            </a:solidFill>
            <a:prstDash val="solid"/>
          </a:ln>
        </p:spPr>
      </p:sp>
      <p:sp>
        <p:nvSpPr>
          <p:cNvPr id="8" name="Text 5"/>
          <p:cNvSpPr txBox="1"/>
          <p:nvPr/>
        </p:nvSpPr>
        <p:spPr>
          <a:xfrm>
            <a:off x="7607808" y="1737360"/>
            <a:ext cx="3840480" cy="45720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Applying the same standard to both legs</a:t>
            </a:r>
            <a:endParaRPr lang="en-US" sz="1150" dirty="0"/>
          </a:p>
        </p:txBody>
      </p:sp>
      <p:sp>
        <p:nvSpPr>
          <p:cNvPr id="9" name="Text 6"/>
          <p:cNvSpPr txBox="1"/>
          <p:nvPr/>
        </p:nvSpPr>
        <p:spPr>
          <a:xfrm>
            <a:off x="7607808" y="2157984"/>
            <a:ext cx="3840480" cy="1554480"/>
          </a:xfrm>
          <a:prstGeom prst="rect">
            <a:avLst/>
          </a:prstGeom>
          <a:noFill/>
          <a:ln/>
        </p:spPr>
        <p:txBody>
          <a:bodyPr wrap="square" lIns="0" tIns="0" rIns="0" bIns="0" rtlCol="0" anchor="t"/>
          <a:lstStyle/>
          <a:p>
            <a:pPr indent="0" marL="0">
              <a:lnSpc>
                <a:spcPct val="105000"/>
              </a:lnSpc>
              <a:buNone/>
            </a:pPr>
            <a:r>
              <a:rPr lang="en-US" sz="1050" dirty="0">
                <a:solidFill>
                  <a:srgbClr val="1A1A1A"/>
                </a:solidFill>
                <a:latin typeface="Calibri" pitchFamily="34" charset="0"/>
                <a:ea typeface="Calibri" pitchFamily="34" charset="-122"/>
                <a:cs typeface="Calibri" pitchFamily="34" charset="-120"/>
              </a:rPr>
              <a:t>The long leg also shows skill in only one regime. If we discount the short result as regime-specific, the same scepticism applies to the long one. The framing we prefer is that the legs take turns: shorts pay when speculative names unwind, longs pay when quality leads.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Text data: three tests, one null, one exception</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This year's theme, measured rather than assumed</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6766560" cy="914400"/>
        </p:xfrm>
        <a:graphic>
          <a:graphicData uri="http://schemas.openxmlformats.org/drawingml/2006/table">
            <a:tbl>
              <a:tblPr/>
              <a:tblGrid>
                <a:gridCol w="3200400"/>
                <a:gridCol w="3566160"/>
              </a:tblGrid>
              <a:tr h="23774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Test</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What we found</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27 single-signal tests on item codes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None clears a monthly regression with controls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Joined into the forecast</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Validation IC +0.1087 without, +0.1082 with</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The model's own feature importance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10 filing columns take 1.71% against 6.37% expected</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Item 5.02 split by triage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Aggregate +0.046% (t +0.5) -&gt; abrupt -0.640% (t -1.9)</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6" name="Text 3"/>
          <p:cNvSpPr txBox="1"/>
          <p:nvPr/>
        </p:nvSpPr>
        <p:spPr>
          <a:xfrm>
            <a:off x="548640" y="3200400"/>
            <a:ext cx="6766560" cy="109728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naive t-statistic was inflated in all of these. Stocks within a month move together, so 7,670 stock-months are not 7,670 independent observations. Three signals that looked alive on the naive test died on the monthly one.</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Coverage is the binding constraint: only 50.7% of evaluation-window stock-months have any filing, and the abrupt-departure flag is set on 1.26%. A tree splits on what separates many rows; a rare flag is structurally ignored however accurate it is.</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triage uses no language model. Rules were read off the documents; --sample prints both sides for inspection and sorted 8 of 8 correctly on the sample shown.</a:t>
            </a:r>
            <a:endParaRPr lang="en-US" sz="1100" dirty="0"/>
          </a:p>
        </p:txBody>
      </p:sp>
      <p:sp>
        <p:nvSpPr>
          <p:cNvPr id="7" name="Shape 4"/>
          <p:cNvSpPr/>
          <p:nvPr/>
        </p:nvSpPr>
        <p:spPr>
          <a:xfrm>
            <a:off x="7680960" y="1591056"/>
            <a:ext cx="3931920" cy="2743200"/>
          </a:xfrm>
          <a:prstGeom prst="roundRect">
            <a:avLst>
              <a:gd name="adj" fmla="val 2000"/>
            </a:avLst>
          </a:prstGeom>
          <a:solidFill>
            <a:srgbClr val="F2F5FC"/>
          </a:solidFill>
          <a:ln w="12700">
            <a:solidFill>
              <a:srgbClr val="F2F5FC"/>
            </a:solidFill>
            <a:prstDash val="solid"/>
          </a:ln>
        </p:spPr>
      </p:sp>
      <p:sp>
        <p:nvSpPr>
          <p:cNvPr id="8" name="Text 5"/>
          <p:cNvSpPr txBox="1"/>
          <p:nvPr/>
        </p:nvSpPr>
        <p:spPr>
          <a:xfrm>
            <a:off x="7882128" y="1737360"/>
            <a:ext cx="3566160" cy="256032"/>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Why the aggregate hid it</a:t>
            </a:r>
            <a:endParaRPr lang="en-US" sz="1150" dirty="0"/>
          </a:p>
        </p:txBody>
      </p:sp>
      <p:sp>
        <p:nvSpPr>
          <p:cNvPr id="9" name="Text 6"/>
          <p:cNvSpPr txBox="1"/>
          <p:nvPr/>
        </p:nvSpPr>
        <p:spPr>
          <a:xfrm>
            <a:off x="7882128" y="2029968"/>
            <a:ext cx="3566160" cy="1463040"/>
          </a:xfrm>
          <a:prstGeom prst="rect">
            <a:avLst/>
          </a:prstGeom>
          <a:noFill/>
          <a:ln/>
        </p:spPr>
        <p:txBody>
          <a:bodyPr wrap="square" lIns="0" tIns="0" rIns="0" bIns="0" rtlCol="0" anchor="t"/>
          <a:lstStyle/>
          <a:p>
            <a:pPr indent="0" marL="0">
              <a:lnSpc>
                <a:spcPct val="105000"/>
              </a:lnSpc>
              <a:buNone/>
            </a:pPr>
            <a:r>
              <a:rPr lang="en-US" sz="1050" dirty="0">
                <a:solidFill>
                  <a:srgbClr val="1A1A1A"/>
                </a:solidFill>
                <a:latin typeface="Calibri" pitchFamily="34" charset="0"/>
                <a:ea typeface="Calibri" pitchFamily="34" charset="-122"/>
                <a:cs typeface="Calibri" pitchFamily="34" charset="-120"/>
              </a:rPr>
              <a:t>70,582 officer-change filings carry no signal together. Separated, 1,632 abrupt departures move next-month returns by -0.640% while 14,746 routine appointments move them +0.121%. An aggregate null is not the same as no signal - it can be a diluted one.</a:t>
            </a:r>
            <a:endParaRPr lang="en-US" sz="1050" dirty="0"/>
          </a:p>
        </p:txBody>
      </p:sp>
      <p:sp>
        <p:nvSpPr>
          <p:cNvPr id="10" name="Text 7"/>
          <p:cNvSpPr txBox="1"/>
          <p:nvPr/>
        </p:nvSpPr>
        <p:spPr>
          <a:xfrm>
            <a:off x="7882128" y="3611880"/>
            <a:ext cx="3566160" cy="548640"/>
          </a:xfrm>
          <a:prstGeom prst="rect">
            <a:avLst/>
          </a:prstGeom>
          <a:noFill/>
          <a:ln/>
        </p:spPr>
        <p:txBody>
          <a:bodyPr wrap="square" lIns="0" tIns="0" rIns="0" bIns="0" rtlCol="0" anchor="ctr"/>
          <a:lstStyle/>
          <a:p>
            <a:pPr indent="0" marL="0">
              <a:buNone/>
            </a:pPr>
            <a:r>
              <a:rPr lang="en-US" sz="1050" i="1" dirty="0">
                <a:solidFill>
                  <a:srgbClr val="A62B1F"/>
                </a:solidFill>
                <a:latin typeface="Calibri" pitchFamily="34" charset="0"/>
                <a:ea typeface="Calibri" pitchFamily="34" charset="-122"/>
                <a:cs typeface="Calibri" pitchFamily="34" charset="-120"/>
              </a:rPr>
              <a:t>t = -1.9 still does not clear the bar we set for ourselves after this many tests, and we say so.</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Robustness</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Six tests, run before the deck was written</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5486400" cy="914400"/>
        </p:xfrm>
        <a:graphic>
          <a:graphicData uri="http://schemas.openxmlformats.org/drawingml/2006/table">
            <a:tbl>
              <a:tblPr/>
              <a:tblGrid>
                <a:gridCol w="2286000"/>
                <a:gridCol w="1554480"/>
                <a:gridCol w="164592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Subperiod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vs hurdle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 rebound</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 months, +10.5%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2022 drawdown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+1.88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 months, +38.5%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2023-25 concentration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+0.41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36 months, +15.5%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2026 so far</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 months, +7.7%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first half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34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second half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+0.36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34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548640" y="3611880"/>
          <a:ext cx="5486400" cy="914400"/>
        </p:xfrm>
        <a:graphic>
          <a:graphicData uri="http://schemas.openxmlformats.org/drawingml/2006/table">
            <a:tbl>
              <a:tblPr/>
              <a:tblGrid>
                <a:gridCol w="3291840"/>
                <a:gridCol w="21945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Stress test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all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1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3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+0.55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5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+0.34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5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10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20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+0.46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7" name="Text 3"/>
          <p:cNvSpPr txBox="1"/>
          <p:nvPr/>
        </p:nvSpPr>
        <p:spPr>
          <a:xfrm>
            <a:off x="6400800" y="1591056"/>
            <a:ext cx="521208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Factor attribution</a:t>
            </a:r>
            <a:endParaRPr lang="en-US" sz="1300" dirty="0"/>
          </a:p>
        </p:txBody>
      </p:sp>
      <p:graphicFrame>
        <p:nvGraphicFramePr>
          <p:cNvPr id="34" name="Table 2"/>
          <p:cNvGraphicFramePr>
            <a:graphicFrameLocks noGrp="1"/>
          </p:cNvGraphicFramePr>
          <p:nvPr>
            <p:extLst>
              <p:ext uri="{D42A27DB-BD31-4B8C-83A1-F6EECF244321}">
                <p14:modId xmlns:p14="http://schemas.microsoft.com/office/powerpoint/2010/main" val="1579011935"/>
              </p:ext>
            </p:extLst>
          </p:nvPr>
        </p:nvGraphicFramePr>
        <p:xfrm>
          <a:off x="6400800" y="1874520"/>
          <a:ext cx="5212080" cy="914400"/>
        </p:xfrm>
        <a:graphic>
          <a:graphicData uri="http://schemas.openxmlformats.org/drawingml/2006/table">
            <a:tbl>
              <a:tblPr/>
              <a:tblGrid>
                <a:gridCol w="2011680"/>
                <a:gridCol w="1554480"/>
                <a:gridCol w="164592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Annualised alpha</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t and R2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only</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+18.11%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t=+3.34, R2 0.03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 size + value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+13.07%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t=+2.25, R2 0.16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9" name="Text 4"/>
          <p:cNvSpPr txBox="1"/>
          <p:nvPr/>
        </p:nvSpPr>
        <p:spPr>
          <a:xfrm>
            <a:off x="6400800" y="2743200"/>
            <a:ext cx="521208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Loadings on size and value are insignificant, and the three-factor regression leaves most of the variation unexplained (t=+2.25, R2 0.16).</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Delisting marks: positions with no realised return are marked at zero in the base case (59 of 13,600, 0.74% by weight). At Shumway's -30% convention the net information ratio is +0.50.</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Daily marks cover 82.3% of the book by weight and 64.4% at worst. Names that cannot be resolved were acquired or renamed, so daily figures are biased optimistic.</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Maximum drawdown on daily marks is -9.53% against -7.46% on monthly marks. Rolling 12-month beta averages -0.05 (range -0.39..+0.44, outside +/-0.3 in 12% of windows).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Research log and multiple testing</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The question we expect to be asked, answered before it is</a:t>
            </a:r>
            <a:endParaRPr lang="en-US" sz="1300" dirty="0"/>
          </a:p>
        </p:txBody>
      </p:sp>
      <p:sp>
        <p:nvSpPr>
          <p:cNvPr id="5" name="Text 3"/>
          <p:cNvSpPr txBox="1"/>
          <p:nvPr/>
        </p:nvSpPr>
        <p:spPr>
          <a:xfrm>
            <a:off x="548640" y="1591056"/>
            <a:ext cx="1106424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We evaluated the test period 13 times. Nine of those followed a diagnosed defect and had a reason independent of the result: penny stocks in the short book (-48% in January 2021), beta at -0.537, the wrong beta estimator, the tree target not demeaned (one boosting round per fold), leg beta measured rather than estimated, unstable validation tuning, and a cross-fold leak in model selection.</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Three were genuine trials: the tree model, turnover control, and the 8-K feature set. We removed the third after it failed its pre-declared test.</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One correction is worth naming. choose_blend pooled all six folds' validation blocks before picking one model for all six years, so the 2021 forecast was chosen partly on 2024-25 outcomes. Each fold's own split was clean and our checks passed - the leak lived between folds, where a per-fold check cannot see it. Selection now happens inside each fold, and a new check fails on the old format.</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What we take from this: with 68 months and this many looks, a t-statistic near 2 is not evidence. What makes a result worth keeping is effect size, a reason to expect it in advance, and survival across regimes - not the t.</a:t>
            </a:r>
            <a:endParaRPr lang="en-US" sz="1200" dirty="0"/>
          </a:p>
        </p:txBody>
      </p:sp>
      <p:sp>
        <p:nvSpPr>
          <p:cNvPr id="6" name="Shape 4"/>
          <p:cNvSpPr/>
          <p:nvPr/>
        </p:nvSpPr>
        <p:spPr>
          <a:xfrm>
            <a:off x="548640" y="4572000"/>
            <a:ext cx="11064240" cy="1371600"/>
          </a:xfrm>
          <a:prstGeom prst="roundRect">
            <a:avLst>
              <a:gd name="adj" fmla="val 4000"/>
            </a:avLst>
          </a:prstGeom>
          <a:solidFill>
            <a:srgbClr val="F2F5FC"/>
          </a:solidFill>
          <a:ln w="12700">
            <a:solidFill>
              <a:srgbClr val="F2F5FC"/>
            </a:solidFill>
            <a:prstDash val="solid"/>
          </a:ln>
        </p:spPr>
      </p:sp>
      <p:sp>
        <p:nvSpPr>
          <p:cNvPr id="7" name="Text 5"/>
          <p:cNvSpPr txBox="1"/>
          <p:nvPr/>
        </p:nvSpPr>
        <p:spPr>
          <a:xfrm>
            <a:off x="777240" y="4718304"/>
            <a:ext cx="1060704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Reproducibility</a:t>
            </a:r>
            <a:endParaRPr lang="en-US" sz="1150" dirty="0"/>
          </a:p>
        </p:txBody>
      </p:sp>
      <p:sp>
        <p:nvSpPr>
          <p:cNvPr id="8" name="Text 6"/>
          <p:cNvSpPr txBox="1"/>
          <p:nvPr/>
        </p:nvSpPr>
        <p:spPr>
          <a:xfrm>
            <a:off x="777240" y="4974336"/>
            <a:ext cx="10607040" cy="914400"/>
          </a:xfrm>
          <a:prstGeom prst="rect">
            <a:avLst/>
          </a:prstGeom>
          <a:noFill/>
          <a:ln/>
        </p:spPr>
        <p:txBody>
          <a:bodyPr wrap="square" lIns="0" tIns="0" rIns="0" bIns="0" rtlCol="0" anchor="t"/>
          <a:lstStyle/>
          <a:p>
            <a:pPr indent="0" marL="0">
              <a:lnSpc>
                <a:spcPct val="102000"/>
              </a:lnSpc>
              <a:buNone/>
            </a:pPr>
            <a:r>
              <a:rPr lang="en-US" sz="1050" dirty="0">
                <a:solidFill>
                  <a:srgbClr val="1A1A1A"/>
                </a:solidFill>
                <a:latin typeface="Calibri" pitchFamily="34" charset="0"/>
                <a:ea typeface="Calibri" pitchFamily="34" charset="-122"/>
                <a:cs typeface="Calibri" pitchFamily="34" charset="-120"/>
              </a:rPr>
              <a:t>MAIN.py runs the whole chain from the supplied parquet files to the compliance gate and the exhibits on these slides, and exits non-zero if any rule is broken. 22 automatic checks cover look-ahead (predictor list, split keying, preprocessing fit window, cross-fold selection) and the trading criteria (100-500 names, gross &lt;= 200%, net inside +/-50%, both legs, coverage, tradability). A separate test feeds the checker 21 deliberately broken inputs and asserts each is caught; all 21 fire. The traded book records 0 failures across all 68 months.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Equity Market-Neutral Strategy</dc:title>
  <dc:subject>PptxGenJS Presentation</dc:subject>
  <dc:creator>FIAM Hackathon submission</dc:creator>
  <cp:lastModifiedBy>FIAM Hackathon submission</cp:lastModifiedBy>
  <cp:revision>1</cp:revision>
  <dcterms:created xsi:type="dcterms:W3CDTF">2026-09-25T22:19:52Z</dcterms:created>
  <dcterms:modified xsi:type="dcterms:W3CDTF">2026-09-25T22:19:52Z</dcterms:modified>
</cp:coreProperties>
</file>