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holding is named by ticker and full company name. The short book is more liquid than the long book: median daily dollar volume $1175.9m against long leg $546.0m.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 answer is a measured null with three independent lines of evidence, plus one signal that the aggregate was hiding. That is a result,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 coincides with a -19%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what drove it, and what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+0.85</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+0.68</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-0.121</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se=0.125</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-7.46%</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+13.0%</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627632"/>
            <a:ext cx="347472" cy="347472"/>
          </a:xfrm>
          <a:prstGeom prst="ellipse">
            <a:avLst/>
          </a:prstGeom>
          <a:solidFill>
            <a:srgbClr val="1E2761"/>
          </a:solidFill>
          <a:ln w="12700">
            <a:solidFill>
              <a:srgbClr val="1E2761"/>
            </a:solidFill>
            <a:prstDash val="solid"/>
          </a:ln>
        </p:spPr>
      </p:sp>
      <p:sp>
        <p:nvSpPr>
          <p:cNvPr id="5" name="Text 3"/>
          <p:cNvSpPr txBox="1"/>
          <p:nvPr/>
        </p:nvSpPr>
        <p:spPr>
          <a:xfrm>
            <a:off x="566928" y="1673352"/>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42416" y="1572768"/>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Screen</a:t>
            </a:r>
            <a:endParaRPr lang="en-US" sz="1300" dirty="0"/>
          </a:p>
        </p:txBody>
      </p:sp>
      <p:sp>
        <p:nvSpPr>
          <p:cNvPr id="7" name="Text 5"/>
          <p:cNvSpPr txBox="1"/>
          <p:nvPr/>
        </p:nvSpPr>
        <p:spPr>
          <a:xfrm>
            <a:off x="1042416" y="1847088"/>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Price &gt;= $5, no nano or micro caps. Without it the short book fills with penny stocks: median cap $50m, and -48% in January 2021 alone.</a:t>
            </a:r>
            <a:endParaRPr lang="en-US" sz="1050" dirty="0"/>
          </a:p>
        </p:txBody>
      </p:sp>
      <p:sp>
        <p:nvSpPr>
          <p:cNvPr id="8" name="Shape 6"/>
          <p:cNvSpPr/>
          <p:nvPr/>
        </p:nvSpPr>
        <p:spPr>
          <a:xfrm>
            <a:off x="566928" y="2560320"/>
            <a:ext cx="347472" cy="347472"/>
          </a:xfrm>
          <a:prstGeom prst="ellipse">
            <a:avLst/>
          </a:prstGeom>
          <a:solidFill>
            <a:srgbClr val="1E2761"/>
          </a:solidFill>
          <a:ln w="12700">
            <a:solidFill>
              <a:srgbClr val="1E2761"/>
            </a:solidFill>
            <a:prstDash val="solid"/>
          </a:ln>
        </p:spPr>
      </p:sp>
      <p:sp>
        <p:nvSpPr>
          <p:cNvPr id="9" name="Text 7"/>
          <p:cNvSpPr txBox="1"/>
          <p:nvPr/>
        </p:nvSpPr>
        <p:spPr>
          <a:xfrm>
            <a:off x="566928" y="2606040"/>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42416" y="2505456"/>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Residualise</a:t>
            </a:r>
            <a:endParaRPr lang="en-US" sz="1300" dirty="0"/>
          </a:p>
        </p:txBody>
      </p:sp>
      <p:sp>
        <p:nvSpPr>
          <p:cNvPr id="11" name="Text 9"/>
          <p:cNvSpPr txBox="1"/>
          <p:nvPr/>
        </p:nvSpPr>
        <p:spPr>
          <a:xfrm>
            <a:off x="1042416" y="2779776"/>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 Neutrality is enforced on the signal, not patched onto the weights.</a:t>
            </a:r>
            <a:endParaRPr lang="en-US" sz="1050" dirty="0"/>
          </a:p>
        </p:txBody>
      </p:sp>
      <p:sp>
        <p:nvSpPr>
          <p:cNvPr id="12" name="Shape 10"/>
          <p:cNvSpPr/>
          <p:nvPr/>
        </p:nvSpPr>
        <p:spPr>
          <a:xfrm>
            <a:off x="566928" y="3493008"/>
            <a:ext cx="347472" cy="347472"/>
          </a:xfrm>
          <a:prstGeom prst="ellipse">
            <a:avLst/>
          </a:prstGeom>
          <a:solidFill>
            <a:srgbClr val="1E2761"/>
          </a:solidFill>
          <a:ln w="12700">
            <a:solidFill>
              <a:srgbClr val="1E2761"/>
            </a:solidFill>
            <a:prstDash val="solid"/>
          </a:ln>
        </p:spPr>
      </p:sp>
      <p:sp>
        <p:nvSpPr>
          <p:cNvPr id="13" name="Text 11"/>
          <p:cNvSpPr txBox="1"/>
          <p:nvPr/>
        </p:nvSpPr>
        <p:spPr>
          <a:xfrm>
            <a:off x="566928" y="3538728"/>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42416" y="3438144"/>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Smooth</a:t>
            </a:r>
            <a:endParaRPr lang="en-US" sz="1300" dirty="0"/>
          </a:p>
        </p:txBody>
      </p:sp>
      <p:sp>
        <p:nvSpPr>
          <p:cNvPr id="15" name="Text 13"/>
          <p:cNvSpPr txBox="1"/>
          <p:nvPr/>
        </p:nvSpPr>
        <p:spPr>
          <a:xfrm>
            <a:off x="1042416" y="3712464"/>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Scores averaged over three months. Turnover falls from 56% to 24.6%; break-even cost rises to 93bps.</a:t>
            </a:r>
            <a:endParaRPr lang="en-US" sz="1050" dirty="0"/>
          </a:p>
        </p:txBody>
      </p:sp>
      <p:sp>
        <p:nvSpPr>
          <p:cNvPr id="16" name="Shape 14"/>
          <p:cNvSpPr/>
          <p:nvPr/>
        </p:nvSpPr>
        <p:spPr>
          <a:xfrm>
            <a:off x="566928" y="4425696"/>
            <a:ext cx="347472" cy="347472"/>
          </a:xfrm>
          <a:prstGeom prst="ellipse">
            <a:avLst/>
          </a:prstGeom>
          <a:solidFill>
            <a:srgbClr val="1E2761"/>
          </a:solidFill>
          <a:ln w="12700">
            <a:solidFill>
              <a:srgbClr val="1E2761"/>
            </a:solidFill>
            <a:prstDash val="solid"/>
          </a:ln>
        </p:spPr>
      </p:sp>
      <p:sp>
        <p:nvSpPr>
          <p:cNvPr id="17" name="Text 15"/>
          <p:cNvSpPr txBox="1"/>
          <p:nvPr/>
        </p:nvSpPr>
        <p:spPr>
          <a:xfrm>
            <a:off x="566928" y="4471416"/>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042416" y="4370832"/>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Size</a:t>
            </a:r>
            <a:endParaRPr lang="en-US" sz="1300" dirty="0"/>
          </a:p>
        </p:txBody>
      </p:sp>
      <p:sp>
        <p:nvSpPr>
          <p:cNvPr id="19" name="Text 17"/>
          <p:cNvSpPr txBox="1"/>
          <p:nvPr/>
        </p:nvSpPr>
        <p:spPr>
          <a:xfrm>
            <a:off x="1042416" y="4645152"/>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Inverse-volatility weights inside each leg, capped near 2%. The information ratio is a ratio - the denominator counts.</a:t>
            </a:r>
            <a:endParaRPr lang="en-US" sz="1050" dirty="0"/>
          </a:p>
        </p:txBody>
      </p:sp>
      <p:sp>
        <p:nvSpPr>
          <p:cNvPr id="20" name="Shape 18"/>
          <p:cNvSpPr/>
          <p:nvPr/>
        </p:nvSpPr>
        <p:spPr>
          <a:xfrm>
            <a:off x="566928" y="5358384"/>
            <a:ext cx="347472" cy="347472"/>
          </a:xfrm>
          <a:prstGeom prst="ellipse">
            <a:avLst/>
          </a:prstGeom>
          <a:solidFill>
            <a:srgbClr val="1E2761"/>
          </a:solidFill>
          <a:ln w="12700">
            <a:solidFill>
              <a:srgbClr val="1E2761"/>
            </a:solidFill>
            <a:prstDash val="solid"/>
          </a:ln>
        </p:spPr>
      </p:sp>
      <p:sp>
        <p:nvSpPr>
          <p:cNvPr id="21" name="Text 19"/>
          <p:cNvSpPr txBox="1"/>
          <p:nvPr/>
        </p:nvSpPr>
        <p:spPr>
          <a:xfrm>
            <a:off x="566928" y="5404104"/>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1042416" y="5303520"/>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Match beta</a:t>
            </a:r>
            <a:endParaRPr lang="en-US" sz="1300" dirty="0"/>
          </a:p>
        </p:txBody>
      </p:sp>
      <p:sp>
        <p:nvSpPr>
          <p:cNvPr id="23" name="Text 21"/>
          <p:cNvSpPr txBox="1"/>
          <p:nvPr/>
        </p:nvSpPr>
        <p:spPr>
          <a:xfrm>
            <a:off x="1042416" y="5577840"/>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 which ran 0.30 too high on the long side.</a:t>
            </a:r>
            <a:endParaRPr lang="en-US" sz="1050" dirty="0"/>
          </a:p>
        </p:txBody>
      </p:sp>
      <p:sp>
        <p:nvSpPr>
          <p:cNvPr id="24" name="Text 22"/>
          <p:cNvSpPr txBox="1"/>
          <p:nvPr/>
        </p:nvSpPr>
        <p:spPr>
          <a:xfrm>
            <a:off x="6492240" y="1517904"/>
            <a:ext cx="2651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Largest average long positions</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92240" y="1792224"/>
          <a:ext cx="5120640" cy="914400"/>
        </p:xfrm>
        <a:graphic>
          <a:graphicData uri="http://schemas.openxmlformats.org/drawingml/2006/table">
            <a:tbl>
              <a:tblPr/>
              <a:tblGrid>
                <a:gridCol w="777240"/>
                <a:gridCol w="3291840"/>
                <a:gridCol w="10515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Ticker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Avg wt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INCY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INCYTE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GOOGL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ALPHABET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ATEN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A10 NETWORKS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USNA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USANA HEALTH SCIENCES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NNI</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NELNET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ISRG</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INTUITIVE SURGICAL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FIZZ</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NATIONAL BEVERAGE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YELP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YELP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6" name="Text 23"/>
          <p:cNvSpPr txBox="1"/>
          <p:nvPr/>
        </p:nvSpPr>
        <p:spPr>
          <a:xfrm>
            <a:off x="6492240" y="4114800"/>
            <a:ext cx="2651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Largest average short positions</a:t>
            </a:r>
            <a:endParaRPr lang="en-US" sz="11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492240" y="4389120"/>
          <a:ext cx="5120640" cy="914400"/>
        </p:xfrm>
        <a:graphic>
          <a:graphicData uri="http://schemas.openxmlformats.org/drawingml/2006/table">
            <a:tbl>
              <a:tblPr/>
              <a:tblGrid>
                <a:gridCol w="777240"/>
                <a:gridCol w="3291840"/>
                <a:gridCol w="10515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Ticker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Avg wt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LVS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LAS VEGAS SANDS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FSLR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FIRST SOLAR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RSG</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REPUBLIC SERVICES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DAL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DELTA AIR LINES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NEM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NEWMONT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CME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C M E GROUP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SWCH</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SWITCH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VIRT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VIRTU FINANCIAL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the 8-K corpus measured and reported</a:t>
            </a:r>
            <a:endParaRPr lang="en-US" sz="1300" dirty="0"/>
          </a:p>
        </p:txBody>
      </p:sp>
      <p:sp>
        <p:nvSpPr>
          <p:cNvPr id="4" name="Text 2"/>
          <p:cNvSpPr txBox="1"/>
          <p:nvPr/>
        </p:nvSpPr>
        <p:spPr>
          <a:xfrm>
            <a:off x="54864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Forecast</a:t>
            </a:r>
            <a:endParaRPr lang="en-US" sz="1300" dirty="0"/>
          </a:p>
        </p:txBody>
      </p:sp>
      <p:sp>
        <p:nvSpPr>
          <p:cNvPr id="5" name="Text 3"/>
          <p:cNvSpPr txBox="1"/>
          <p:nvPr/>
        </p:nvSpPr>
        <p:spPr>
          <a:xfrm>
            <a:off x="548640" y="1773936"/>
            <a:ext cx="539496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1050" dirty="0"/>
          </a:p>
        </p:txBody>
      </p:sp>
      <p:sp>
        <p:nvSpPr>
          <p:cNvPr id="6" name="Text 4"/>
          <p:cNvSpPr txBox="1"/>
          <p:nvPr/>
        </p:nvSpPr>
        <p:spPr>
          <a:xfrm>
            <a:off x="548640" y="3977640"/>
            <a:ext cx="539496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Out-of-sample R-squared, benchmarked against zero</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261104"/>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OOS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Monthly 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Gradient-boosted trees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+0.3956%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+0.1354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Ridge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+0.0278%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+0.1193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OLS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-0.0068%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+0.0806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Lasso / Elastic Net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negative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440680"/>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a:t>
            </a:r>
            <a:endParaRPr lang="en-US" sz="1000" dirty="0"/>
          </a:p>
        </p:txBody>
      </p:sp>
      <p:sp>
        <p:nvSpPr>
          <p:cNvPr id="9" name="Text 6"/>
          <p:cNvSpPr txBox="1"/>
          <p:nvPr/>
        </p:nvSpPr>
        <p:spPr>
          <a:xfrm>
            <a:off x="630936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8-K corpus: measured, not assumed</a:t>
            </a:r>
            <a:endParaRPr lang="en-US" sz="1300" dirty="0"/>
          </a:p>
        </p:txBody>
      </p:sp>
      <p:sp>
        <p:nvSpPr>
          <p:cNvPr id="10" name="Text 7"/>
          <p:cNvSpPr txBox="1"/>
          <p:nvPr/>
        </p:nvSpPr>
        <p:spPr>
          <a:xfrm>
            <a:off x="6309360" y="1773936"/>
            <a:ext cx="530352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27 single-signal tests on item codes. None survives a monthly cross-sectional regression with controls.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Joined into the model: validation rank correlation +0.1087 without, +0.1082 with. No gain.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model's own usage agrees - the ten filing columns take 1.71% of its attention against the 6.37% an average feature would.</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One exception: item 5.02 is null in aggregate (+0.046%/mo, t=+0.5) but splits into abrupt departures at -0.640%/mo (t=-1.9) and routine appointments at +0.121%.</a:t>
            </a:r>
            <a:endParaRPr lang="en-US" sz="1050" dirty="0"/>
          </a:p>
        </p:txBody>
      </p:sp>
      <p:sp>
        <p:nvSpPr>
          <p:cNvPr id="11" name="Shape 8"/>
          <p:cNvSpPr/>
          <p:nvPr/>
        </p:nvSpPr>
        <p:spPr>
          <a:xfrm>
            <a:off x="6309360" y="4224528"/>
            <a:ext cx="5303520" cy="1417320"/>
          </a:xfrm>
          <a:prstGeom prst="roundRect">
            <a:avLst>
              <a:gd name="adj" fmla="val 3871"/>
            </a:avLst>
          </a:prstGeom>
          <a:solidFill>
            <a:srgbClr val="F2F5FC"/>
          </a:solidFill>
          <a:ln w="12700">
            <a:solidFill>
              <a:srgbClr val="F2F5FC"/>
            </a:solidFill>
            <a:prstDash val="solid"/>
          </a:ln>
        </p:spPr>
      </p:sp>
      <p:sp>
        <p:nvSpPr>
          <p:cNvPr id="12" name="Text 9"/>
          <p:cNvSpPr txBox="1"/>
          <p:nvPr/>
        </p:nvSpPr>
        <p:spPr>
          <a:xfrm>
            <a:off x="6510528" y="4352544"/>
            <a:ext cx="4937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The trap worth knowing</a:t>
            </a:r>
            <a:endParaRPr lang="en-US" sz="1100" dirty="0"/>
          </a:p>
        </p:txBody>
      </p:sp>
      <p:sp>
        <p:nvSpPr>
          <p:cNvPr id="13" name="Text 10"/>
          <p:cNvSpPr txBox="1"/>
          <p:nvPr/>
        </p:nvSpPr>
        <p:spPr>
          <a:xfrm>
            <a:off x="6510528" y="4608576"/>
            <a:ext cx="4937760" cy="960120"/>
          </a:xfrm>
          <a:prstGeom prst="rect">
            <a:avLst/>
          </a:prstGeom>
          <a:noFill/>
          <a:ln/>
        </p:spPr>
        <p:txBody>
          <a:bodyPr wrap="square" lIns="0" tIns="0" rIns="0" bIns="0" rtlCol="0" anchor="t"/>
          <a:lstStyle/>
          <a:p>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Item 5.02's own heading contains every keyword worth searching for. Measured raw, "appoint" appears in 99.2% of these filings and the sub-item markers in 88-100%. Strip the heading and they fall to 54.5% and below. Any classifier trained on the unstripped text is learning the title.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+19.32%</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+18.64%</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+172.03%</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+1.553%</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+10.89% / worst -7.46%</a:t>
            </a:r>
            <a:endParaRPr lang="en-US" sz="950" dirty="0"/>
          </a:p>
        </p:txBody>
      </p:sp>
      <p:sp>
        <p:nvSpPr>
          <p:cNvPr id="20" name="Text 18"/>
          <p:cNvSpPr txBox="1"/>
          <p:nvPr/>
        </p:nvSpPr>
        <p:spPr>
          <a:xfrm>
            <a:off x="5486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38144"/>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+14.61%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+44.71%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+14.90%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2" name="Text 19"/>
          <p:cNvSpPr txBox="1"/>
          <p:nvPr/>
        </p:nvSpPr>
        <p:spPr>
          <a:xfrm>
            <a:off x="64922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438144"/>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Leg, measured against the eligible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2021-22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2023-26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excess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-3.07%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+8.81%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excess (negative is good)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-29.35%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492240" y="4572000"/>
            <a:ext cx="5120640" cy="731520"/>
          </a:xfrm>
          <a:prstGeom prst="rect">
            <a:avLst/>
          </a:prstGeom>
          <a:noFill/>
          <a:ln/>
        </p:spPr>
        <p:txBody>
          <a:bodyPr wrap="square" lIns="0" tIns="0" rIns="0" bIns="0" rtlCol="0" anchor="ctr"/>
          <a:lstStyle/>
          <a:p>
            <a:pPr indent="0" marL="0">
              <a:lnSpc>
                <a:spcPct val="105000"/>
              </a:lnSpc>
              <a:buNone/>
            </a:pPr>
            <a:r>
              <a:rPr lang="en-US" sz="10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1000" dirty="0"/>
          </a:p>
        </p:txBody>
      </p:sp>
      <p:pic>
        <p:nvPicPr>
          <p:cNvPr id="25" name="Image 0" descr="C:\Users\junho\AppData\Local\Temp\claude\fiam_team\05_submission\figures\histogram.png">    </p:cNvPr>
          <p:cNvPicPr>
            <a:picLocks noChangeAspect="1"/>
          </p:cNvPicPr>
          <p:nvPr/>
        </p:nvPicPr>
        <p:blipFill>
          <a:blip r:embed="rId1"/>
          <a:stretch>
            <a:fillRect/>
          </a:stretch>
        </p:blipFill>
        <p:spPr>
          <a:xfrm>
            <a:off x="6492240" y="5230368"/>
            <a:ext cx="5120640" cy="14813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+0.85</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+1.15</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+16.64%</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t=+3.08</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-0.121</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0.125</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7 of 57 windows, which is 3 distinct episodes once the overlap between 12-month windows is collapsed - 2021-01..2022-07, 2024-03..2025-02, 2025-09..2026-08.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1.8). A 12-month window measures beta 2.2x looser than the full period, so a book with our full-period beta would leave the band in 30% of windows on sampling noise alone. We leave it in 12%.</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+17.95%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+15.27%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+12.64%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97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-22.2%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2.23%</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15%-41%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$3660m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$2540m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$1175.9m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$546.0m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$28.91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48640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short book is more liquid than the long book.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worked</a:t>
            </a:r>
            <a:endParaRPr lang="en-US" sz="1500" dirty="0"/>
          </a:p>
        </p:txBody>
      </p:sp>
      <p:sp>
        <p:nvSpPr>
          <p:cNvPr id="4" name="Text 2"/>
          <p:cNvSpPr txBox="1"/>
          <p:nvPr/>
        </p:nvSpPr>
        <p:spPr>
          <a:xfrm>
            <a:off x="64008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Portfolio construction moved the book from beta -0.537 to -0.121 and cut drawdown from -30% to -7.46%.</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Alpha survives market, size and value: +13.07%/yr, t=+2.25, R2 0.16. It is not a repackaged factor.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long leg has genuine selection skill since 2023: +8.81% over the eligible universe, t=+2.4 across 44 months.</a:t>
            </a:r>
            <a:endParaRPr lang="en-US" sz="1150" dirty="0"/>
          </a:p>
        </p:txBody>
      </p:sp>
      <p:sp>
        <p:nvSpPr>
          <p:cNvPr id="5" name="Text 3"/>
          <p:cNvSpPr txBox="1"/>
          <p:nvPr/>
        </p:nvSpPr>
        <p:spPr>
          <a:xfrm>
            <a:off x="4434840" y="1371600"/>
            <a:ext cx="3520440" cy="292608"/>
          </a:xfrm>
          <a:prstGeom prst="rect">
            <a:avLst/>
          </a:prstGeom>
          <a:noFill/>
          <a:ln/>
        </p:spPr>
        <p:txBody>
          <a:bodyPr wrap="square" lIns="0" tIns="0" rIns="0" bIns="0" rtlCol="0" anchor="ctr"/>
          <a:lstStyle/>
          <a:p>
            <a:pPr indent="0" marL="0">
              <a:buNone/>
            </a:pPr>
            <a:r>
              <a:rPr lang="en-US" sz="1500" b="1" dirty="0">
                <a:solidFill>
                  <a:srgbClr val="F3C6C0"/>
                </a:solidFill>
                <a:latin typeface="Calibri" pitchFamily="34" charset="0"/>
                <a:ea typeface="Calibri" pitchFamily="34" charset="-122"/>
                <a:cs typeface="Calibri" pitchFamily="34" charset="-120"/>
              </a:rPr>
              <a:t>What did not</a:t>
            </a:r>
            <a:endParaRPr lang="en-US" sz="1500" dirty="0"/>
          </a:p>
        </p:txBody>
      </p:sp>
      <p:sp>
        <p:nvSpPr>
          <p:cNvPr id="6" name="Text 4"/>
          <p:cNvSpPr txBox="1"/>
          <p:nvPr/>
        </p:nvSpPr>
        <p:spPr>
          <a:xfrm>
            <a:off x="443484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8-K signals add nothing measurable to the forecast, across three independent tests.</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Removing the 5 best months of 68 takes the information ratio from +0.85 to +0.34.</a:t>
            </a:r>
            <a:endParaRPr lang="en-US" sz="1150" dirty="0"/>
          </a:p>
        </p:txBody>
      </p:sp>
      <p:sp>
        <p:nvSpPr>
          <p:cNvPr id="7" name="Text 5"/>
          <p:cNvSpPr txBox="1"/>
          <p:nvPr/>
        </p:nvSpPr>
        <p:spPr>
          <a:xfrm>
            <a:off x="822960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we would say about the future</a:t>
            </a:r>
            <a:endParaRPr lang="en-US" sz="1500" dirty="0"/>
          </a:p>
        </p:txBody>
      </p:sp>
      <p:sp>
        <p:nvSpPr>
          <p:cNvPr id="8" name="Text 6"/>
          <p:cNvSpPr txBox="1"/>
          <p:nvPr/>
        </p:nvSpPr>
        <p:spPr>
          <a:xfrm>
            <a:off x="822960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second half of the window runs at +0.36 against +1.34 in the first. The later figure is the more honest forward expectation; 2021-22 dominates the full-period number.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book's job is neutrality, not return. We would size it as a hedge, not as a second source of alpha.</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 evaluated the test period 13 times. Nine followed a diagnosed defect; three were genuine trials, one of which we removed after it failed.</a:t>
            </a:r>
            <a:endParaRPr lang="en-US" sz="1150" dirty="0"/>
          </a:p>
        </p:txBody>
      </p:sp>
      <p:sp>
        <p:nvSpPr>
          <p:cNvPr id="9" name="Text 7"/>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Every one of these was measured, not asserted. The appendix carries the regressions, the research log and the compliance output.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Long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Short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2019-20 (pre-test validation)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+25.03%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  (t +0.1)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+5.42%  (t +1.1)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-3.07%  (t -0.5)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-29.35%  (t -2.5)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+8.81%  (t +2.4)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-1.61%  (t -0.2)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almost intact (-26.90% vs -25.62%), so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09728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+10.5%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+38.5%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+15.5%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+7.7%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+18.11%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t=+3.34, R2 0.03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t=+2.25, R2 0.16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Loadings on size and value are insignificant, and the three-factor regression leaves most of the variation unexplained (t=+2.25, R2 0.16).</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(59 of 13,600, 0.74% by weight). At Shumway's -30% convention the net information ratio is +0.50.</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-9.53% against -7.46% on monthly marks. Rolling 12-month beta averages -0.05 (range -0.39..+0.44, outside +/-0.3 in 12%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Three were genuine trials: the tree model, turnover control, and the 8-K feature set. We removed the third after it failed its pre-declared test.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2026-09-26T02:51:04Z</dcterms:created>
  <dcterms:modified xsi:type="dcterms:W3CDTF">2026-09-26T02:51:04Z</dcterms:modified>
</cp:coreProperties>
</file>