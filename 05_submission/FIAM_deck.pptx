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holding is named by ticker and full company name. The short book is more liquid than the long book: median daily dollar volume $1150.3m against long leg $559.3m.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 answer is a measured null with three independent lines of evidence, plus one signal that the aggregate was hiding. That is a result,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 coincides with a -19%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what drove it, and what would you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alpha changed legs mid-period. 2021-22 came almost entirely from the short book during the speculative unwind; since 2023 it has come from the long book. We do not claim the first is repeatable.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627632"/>
            <a:ext cx="347472" cy="347472"/>
          </a:xfrm>
          <a:prstGeom prst="ellipse">
            <a:avLst/>
          </a:prstGeom>
          <a:solidFill>
            <a:srgbClr val="1E2761"/>
          </a:solidFill>
          <a:ln w="12700">
            <a:solidFill>
              <a:srgbClr val="1E2761"/>
            </a:solidFill>
            <a:prstDash val="solid"/>
          </a:ln>
        </p:spPr>
      </p:sp>
      <p:sp>
        <p:nvSpPr>
          <p:cNvPr id="5" name="Text 3"/>
          <p:cNvSpPr txBox="1"/>
          <p:nvPr/>
        </p:nvSpPr>
        <p:spPr>
          <a:xfrm>
            <a:off x="566928" y="1673352"/>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42416" y="1572768"/>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Screen</a:t>
            </a:r>
            <a:endParaRPr lang="en-US" sz="1300" dirty="0"/>
          </a:p>
        </p:txBody>
      </p:sp>
      <p:sp>
        <p:nvSpPr>
          <p:cNvPr id="7" name="Text 5"/>
          <p:cNvSpPr txBox="1"/>
          <p:nvPr/>
        </p:nvSpPr>
        <p:spPr>
          <a:xfrm>
            <a:off x="1042416" y="1847088"/>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Price &gt;= $5, no nano or micro caps. Without it the short book fills with penny stocks: median cap $50m, and -48% in January 2021 alone.</a:t>
            </a:r>
            <a:endParaRPr lang="en-US" sz="1050" dirty="0"/>
          </a:p>
        </p:txBody>
      </p:sp>
      <p:sp>
        <p:nvSpPr>
          <p:cNvPr id="8" name="Shape 6"/>
          <p:cNvSpPr/>
          <p:nvPr/>
        </p:nvSpPr>
        <p:spPr>
          <a:xfrm>
            <a:off x="566928" y="2560320"/>
            <a:ext cx="347472" cy="347472"/>
          </a:xfrm>
          <a:prstGeom prst="ellipse">
            <a:avLst/>
          </a:prstGeom>
          <a:solidFill>
            <a:srgbClr val="1E2761"/>
          </a:solidFill>
          <a:ln w="12700">
            <a:solidFill>
              <a:srgbClr val="1E2761"/>
            </a:solidFill>
            <a:prstDash val="solid"/>
          </a:ln>
        </p:spPr>
      </p:sp>
      <p:sp>
        <p:nvSpPr>
          <p:cNvPr id="9" name="Text 7"/>
          <p:cNvSpPr txBox="1"/>
          <p:nvPr/>
        </p:nvSpPr>
        <p:spPr>
          <a:xfrm>
            <a:off x="566928" y="2606040"/>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42416" y="2505456"/>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Residualise</a:t>
            </a:r>
            <a:endParaRPr lang="en-US" sz="1300" dirty="0"/>
          </a:p>
        </p:txBody>
      </p:sp>
      <p:sp>
        <p:nvSpPr>
          <p:cNvPr id="11" name="Text 9"/>
          <p:cNvSpPr txBox="1"/>
          <p:nvPr/>
        </p:nvSpPr>
        <p:spPr>
          <a:xfrm>
            <a:off x="1042416" y="2779776"/>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 Neutrality is enforced on the signal, not patched onto the weights.</a:t>
            </a:r>
            <a:endParaRPr lang="en-US" sz="1050" dirty="0"/>
          </a:p>
        </p:txBody>
      </p:sp>
      <p:sp>
        <p:nvSpPr>
          <p:cNvPr id="12" name="Shape 10"/>
          <p:cNvSpPr/>
          <p:nvPr/>
        </p:nvSpPr>
        <p:spPr>
          <a:xfrm>
            <a:off x="566928" y="3493008"/>
            <a:ext cx="347472" cy="347472"/>
          </a:xfrm>
          <a:prstGeom prst="ellipse">
            <a:avLst/>
          </a:prstGeom>
          <a:solidFill>
            <a:srgbClr val="1E2761"/>
          </a:solidFill>
          <a:ln w="12700">
            <a:solidFill>
              <a:srgbClr val="1E2761"/>
            </a:solidFill>
            <a:prstDash val="solid"/>
          </a:ln>
        </p:spPr>
      </p:sp>
      <p:sp>
        <p:nvSpPr>
          <p:cNvPr id="13" name="Text 11"/>
          <p:cNvSpPr txBox="1"/>
          <p:nvPr/>
        </p:nvSpPr>
        <p:spPr>
          <a:xfrm>
            <a:off x="566928" y="3538728"/>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42416" y="3438144"/>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Smooth</a:t>
            </a:r>
            <a:endParaRPr lang="en-US" sz="1300" dirty="0"/>
          </a:p>
        </p:txBody>
      </p:sp>
      <p:sp>
        <p:nvSpPr>
          <p:cNvPr id="15" name="Text 13"/>
          <p:cNvSpPr txBox="1"/>
          <p:nvPr/>
        </p:nvSpPr>
        <p:spPr>
          <a:xfrm>
            <a:off x="1042416" y="3712464"/>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Scores averaged over three months. Turnover falls from 56% to 24.6%; break-even cost rises to 93bps.</a:t>
            </a:r>
            <a:endParaRPr lang="en-US" sz="1050" dirty="0"/>
          </a:p>
        </p:txBody>
      </p:sp>
      <p:sp>
        <p:nvSpPr>
          <p:cNvPr id="16" name="Shape 14"/>
          <p:cNvSpPr/>
          <p:nvPr/>
        </p:nvSpPr>
        <p:spPr>
          <a:xfrm>
            <a:off x="566928" y="4425696"/>
            <a:ext cx="347472" cy="347472"/>
          </a:xfrm>
          <a:prstGeom prst="ellipse">
            <a:avLst/>
          </a:prstGeom>
          <a:solidFill>
            <a:srgbClr val="1E2761"/>
          </a:solidFill>
          <a:ln w="12700">
            <a:solidFill>
              <a:srgbClr val="1E2761"/>
            </a:solidFill>
            <a:prstDash val="solid"/>
          </a:ln>
        </p:spPr>
      </p:sp>
      <p:sp>
        <p:nvSpPr>
          <p:cNvPr id="17" name="Text 15"/>
          <p:cNvSpPr txBox="1"/>
          <p:nvPr/>
        </p:nvSpPr>
        <p:spPr>
          <a:xfrm>
            <a:off x="566928" y="4471416"/>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042416" y="4370832"/>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Size</a:t>
            </a:r>
            <a:endParaRPr lang="en-US" sz="1300" dirty="0"/>
          </a:p>
        </p:txBody>
      </p:sp>
      <p:sp>
        <p:nvSpPr>
          <p:cNvPr id="19" name="Text 17"/>
          <p:cNvSpPr txBox="1"/>
          <p:nvPr/>
        </p:nvSpPr>
        <p:spPr>
          <a:xfrm>
            <a:off x="1042416" y="4645152"/>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Inverse-volatility weights inside each leg, capped near 2%. The information ratio is a ratio - the denominator counts.</a:t>
            </a:r>
            <a:endParaRPr lang="en-US" sz="1050" dirty="0"/>
          </a:p>
        </p:txBody>
      </p:sp>
      <p:sp>
        <p:nvSpPr>
          <p:cNvPr id="20" name="Shape 18"/>
          <p:cNvSpPr/>
          <p:nvPr/>
        </p:nvSpPr>
        <p:spPr>
          <a:xfrm>
            <a:off x="566928" y="5358384"/>
            <a:ext cx="347472" cy="347472"/>
          </a:xfrm>
          <a:prstGeom prst="ellipse">
            <a:avLst/>
          </a:prstGeom>
          <a:solidFill>
            <a:srgbClr val="1E2761"/>
          </a:solidFill>
          <a:ln w="12700">
            <a:solidFill>
              <a:srgbClr val="1E2761"/>
            </a:solidFill>
            <a:prstDash val="solid"/>
          </a:ln>
        </p:spPr>
      </p:sp>
      <p:sp>
        <p:nvSpPr>
          <p:cNvPr id="21" name="Text 19"/>
          <p:cNvSpPr txBox="1"/>
          <p:nvPr/>
        </p:nvSpPr>
        <p:spPr>
          <a:xfrm>
            <a:off x="566928" y="5404104"/>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1042416" y="5303520"/>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Match beta</a:t>
            </a:r>
            <a:endParaRPr lang="en-US" sz="1300" dirty="0"/>
          </a:p>
        </p:txBody>
      </p:sp>
      <p:sp>
        <p:nvSpPr>
          <p:cNvPr id="23" name="Text 21"/>
          <p:cNvSpPr txBox="1"/>
          <p:nvPr/>
        </p:nvSpPr>
        <p:spPr>
          <a:xfrm>
            <a:off x="1042416" y="5577840"/>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 which ran 0.30 too high on the long side.</a:t>
            </a:r>
            <a:endParaRPr lang="en-US" sz="1050" dirty="0"/>
          </a:p>
        </p:txBody>
      </p:sp>
      <p:sp>
        <p:nvSpPr>
          <p:cNvPr id="24" name="Text 22"/>
          <p:cNvSpPr txBox="1"/>
          <p:nvPr/>
        </p:nvSpPr>
        <p:spPr>
          <a:xfrm>
            <a:off x="6492240" y="1517904"/>
            <a:ext cx="2651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Largest average long positions</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92240" y="1792224"/>
          <a:ext cx="5120640" cy="914400"/>
        </p:xfrm>
        <a:graphic>
          <a:graphicData uri="http://schemas.openxmlformats.org/drawingml/2006/table">
            <a:tbl>
              <a:tblPr/>
              <a:tblGrid>
                <a:gridCol w="777240"/>
                <a:gridCol w="3291840"/>
                <a:gridCol w="10515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Ticker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Avg wt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INCY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INCYTE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USNA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USANA HEALTH SCIENCES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YELP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YELP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NNI</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NELNET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GOOGL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ALPHABET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HSTM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HEALTHSTREAM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TNET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TRINET GROUP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CORT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CORCEPT THERAPEUTICS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6" name="Text 23"/>
          <p:cNvSpPr txBox="1"/>
          <p:nvPr/>
        </p:nvSpPr>
        <p:spPr>
          <a:xfrm>
            <a:off x="6492240" y="4114800"/>
            <a:ext cx="2651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Largest average short positions</a:t>
            </a:r>
            <a:endParaRPr lang="en-US" sz="11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492240" y="4389120"/>
          <a:ext cx="5120640" cy="914400"/>
        </p:xfrm>
        <a:graphic>
          <a:graphicData uri="http://schemas.openxmlformats.org/drawingml/2006/table">
            <a:tbl>
              <a:tblPr/>
              <a:tblGrid>
                <a:gridCol w="777240"/>
                <a:gridCol w="3291840"/>
                <a:gridCol w="10515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Ticker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Avg wt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FSLR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FIRST SOLAR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DAL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DELTA AIR LINES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LVS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LAS VEGAS SANDS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UAL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UNITED AIRLINES HOLDINGS I</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SWCH</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SWITCH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VIRT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VIRTU FINANCIAL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PCG</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P G &amp; E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AMERICAN AIRLINES GROUP IN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the 8-K corpus measured and reported</a:t>
            </a:r>
            <a:endParaRPr lang="en-US" sz="1300" dirty="0"/>
          </a:p>
        </p:txBody>
      </p:sp>
      <p:sp>
        <p:nvSpPr>
          <p:cNvPr id="4" name="Text 2"/>
          <p:cNvSpPr txBox="1"/>
          <p:nvPr/>
        </p:nvSpPr>
        <p:spPr>
          <a:xfrm>
            <a:off x="54864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Forecast</a:t>
            </a:r>
            <a:endParaRPr lang="en-US" sz="1300" dirty="0"/>
          </a:p>
        </p:txBody>
      </p:sp>
      <p:sp>
        <p:nvSpPr>
          <p:cNvPr id="5" name="Text 3"/>
          <p:cNvSpPr txBox="1"/>
          <p:nvPr/>
        </p:nvSpPr>
        <p:spPr>
          <a:xfrm>
            <a:off x="548640" y="1773936"/>
            <a:ext cx="539496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1050" dirty="0"/>
          </a:p>
        </p:txBody>
      </p:sp>
      <p:sp>
        <p:nvSpPr>
          <p:cNvPr id="6" name="Text 4"/>
          <p:cNvSpPr txBox="1"/>
          <p:nvPr/>
        </p:nvSpPr>
        <p:spPr>
          <a:xfrm>
            <a:off x="548640" y="3977640"/>
            <a:ext cx="539496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Out-of-sample R-squared, benchmarked against zero</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261104"/>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OOS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Monthly 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Gradient-boosted trees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+0.3956%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+0.1354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Ridge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+0.0278%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+0.1193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OLS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-0.0068%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+0.0806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Lasso / Elastic Net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negative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440680"/>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a:t>
            </a:r>
            <a:endParaRPr lang="en-US" sz="1000" dirty="0"/>
          </a:p>
        </p:txBody>
      </p:sp>
      <p:sp>
        <p:nvSpPr>
          <p:cNvPr id="9" name="Text 6"/>
          <p:cNvSpPr txBox="1"/>
          <p:nvPr/>
        </p:nvSpPr>
        <p:spPr>
          <a:xfrm>
            <a:off x="630936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8-K corpus: measured, not assumed</a:t>
            </a:r>
            <a:endParaRPr lang="en-US" sz="1300" dirty="0"/>
          </a:p>
        </p:txBody>
      </p:sp>
      <p:sp>
        <p:nvSpPr>
          <p:cNvPr id="10" name="Text 7"/>
          <p:cNvSpPr txBox="1"/>
          <p:nvPr/>
        </p:nvSpPr>
        <p:spPr>
          <a:xfrm>
            <a:off x="6309360" y="1773936"/>
            <a:ext cx="530352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27 single-signal tests on item codes. None survives a monthly cross-sectional regression with controls.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Joined into the model: validation rank correlation +0.1087 without, +0.1082 with. No gain.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model's own usage agrees - the ten filing columns take 1.71% of its attention against the 6.37% an average feature would.</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One exception: item 5.02 is null in aggregate (+0.046%/mo, t=+0.5) but splits into abrupt departures at -0.640%/mo (t=-1.9) and routine appointments at +0.121%.</a:t>
            </a:r>
            <a:endParaRPr lang="en-US" sz="1050" dirty="0"/>
          </a:p>
        </p:txBody>
      </p:sp>
      <p:sp>
        <p:nvSpPr>
          <p:cNvPr id="11" name="Shape 8"/>
          <p:cNvSpPr/>
          <p:nvPr/>
        </p:nvSpPr>
        <p:spPr>
          <a:xfrm>
            <a:off x="6309360" y="4224528"/>
            <a:ext cx="5303520" cy="1417320"/>
          </a:xfrm>
          <a:prstGeom prst="roundRect">
            <a:avLst>
              <a:gd name="adj" fmla="val 3871"/>
            </a:avLst>
          </a:prstGeom>
          <a:solidFill>
            <a:srgbClr val="F2F5FC"/>
          </a:solidFill>
          <a:ln w="12700">
            <a:solidFill>
              <a:srgbClr val="F2F5FC"/>
            </a:solidFill>
            <a:prstDash val="solid"/>
          </a:ln>
        </p:spPr>
      </p:sp>
      <p:sp>
        <p:nvSpPr>
          <p:cNvPr id="12" name="Text 9"/>
          <p:cNvSpPr txBox="1"/>
          <p:nvPr/>
        </p:nvSpPr>
        <p:spPr>
          <a:xfrm>
            <a:off x="6510528" y="4352544"/>
            <a:ext cx="4937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The trap worth knowing</a:t>
            </a:r>
            <a:endParaRPr lang="en-US" sz="1100" dirty="0"/>
          </a:p>
        </p:txBody>
      </p:sp>
      <p:sp>
        <p:nvSpPr>
          <p:cNvPr id="13" name="Text 10"/>
          <p:cNvSpPr txBox="1"/>
          <p:nvPr/>
        </p:nvSpPr>
        <p:spPr>
          <a:xfrm>
            <a:off x="6510528" y="4608576"/>
            <a:ext cx="4937760" cy="960120"/>
          </a:xfrm>
          <a:prstGeom prst="rect">
            <a:avLst/>
          </a:prstGeom>
          <a:noFill/>
          <a:ln/>
        </p:spPr>
        <p:txBody>
          <a:bodyPr wrap="square" lIns="0" tIns="0" rIns="0" bIns="0" rtlCol="0" anchor="t"/>
          <a:lstStyle/>
          <a:p>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Item 5.02's own heading contains every keyword worth searching for. Measured raw, "appoint" appears in 99.2% of these filings and the sub-item markers in 88-100%. Strip the heading and they fall to 54.5% and below. Any classifier trained on the unstripped text is learning the title.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 worst -6.53%</a:t>
            </a:r>
            <a:endParaRPr lang="en-US" sz="950" dirty="0"/>
          </a:p>
        </p:txBody>
      </p:sp>
      <p:sp>
        <p:nvSpPr>
          <p:cNvPr id="20" name="Text 18"/>
          <p:cNvSpPr txBox="1"/>
          <p:nvPr/>
        </p:nvSpPr>
        <p:spPr>
          <a:xfrm>
            <a:off x="5486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38144"/>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2" name="Text 19"/>
          <p:cNvSpPr txBox="1"/>
          <p:nvPr/>
        </p:nvSpPr>
        <p:spPr>
          <a:xfrm>
            <a:off x="64922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438144"/>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Leg, measured against the eligible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2021-22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2023-26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excess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-3.07%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+8.81%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excess (negative is good)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-29.35%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492240" y="4572000"/>
            <a:ext cx="5120640" cy="731520"/>
          </a:xfrm>
          <a:prstGeom prst="rect">
            <a:avLst/>
          </a:prstGeom>
          <a:noFill/>
          <a:ln/>
        </p:spPr>
        <p:txBody>
          <a:bodyPr wrap="square" lIns="0" tIns="0" rIns="0" bIns="0" rtlCol="0" anchor="ctr"/>
          <a:lstStyle/>
          <a:p>
            <a:pPr indent="0" marL="0">
              <a:lnSpc>
                <a:spcPct val="105000"/>
              </a:lnSpc>
              <a:buNone/>
            </a:pPr>
            <a:r>
              <a:rPr lang="en-US" sz="10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legs take turns: the short book carried 2021-22, the long book carries 2023-26.</a:t>
            </a:r>
            <a:endParaRPr lang="en-US" sz="1000" dirty="0"/>
          </a:p>
        </p:txBody>
      </p:sp>
      <p:pic>
        <p:nvPicPr>
          <p:cNvPr id="25" name="Image 0" descr="C:\Users\junho\AppData\Local\Temp\claude\fiam_team\05_submission\figures\histogram.png">    </p:cNvPr>
          <p:cNvPicPr>
            <a:picLocks noChangeAspect="1"/>
          </p:cNvPicPr>
          <p:nvPr/>
        </p:nvPicPr>
        <p:blipFill>
          <a:blip r:embed="rId1"/>
          <a:stretch>
            <a:fillRect/>
          </a:stretch>
        </p:blipFill>
        <p:spPr>
          <a:xfrm>
            <a:off x="6492240" y="5230368"/>
            <a:ext cx="5120640" cy="14813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$1150.3m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$559.3m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486400"/>
            <a:ext cx="566928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short book is more liquid than the long book.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worked</a:t>
            </a:r>
            <a:endParaRPr lang="en-US" sz="1500" dirty="0"/>
          </a:p>
        </p:txBody>
      </p:sp>
      <p:sp>
        <p:nvSpPr>
          <p:cNvPr id="4" name="Text 2"/>
          <p:cNvSpPr txBox="1"/>
          <p:nvPr/>
        </p:nvSpPr>
        <p:spPr>
          <a:xfrm>
            <a:off x="64008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Portfolio construction moved the book from beta -0.537 to -0.159 and cut drawdown from -30% to -6.53%.</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Alpha survives market, size and value: +13.78%/yr, t=+2.47, R2 0.15. It is not a repackaged factor.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long leg has genuine selection skill since 2023: +8.81% over the eligible universe, t=+2.4 across 44 months.</a:t>
            </a:r>
            <a:endParaRPr lang="en-US" sz="1150" dirty="0"/>
          </a:p>
        </p:txBody>
      </p:sp>
      <p:sp>
        <p:nvSpPr>
          <p:cNvPr id="5" name="Text 3"/>
          <p:cNvSpPr txBox="1"/>
          <p:nvPr/>
        </p:nvSpPr>
        <p:spPr>
          <a:xfrm>
            <a:off x="4434840" y="1371600"/>
            <a:ext cx="3520440" cy="292608"/>
          </a:xfrm>
          <a:prstGeom prst="rect">
            <a:avLst/>
          </a:prstGeom>
          <a:noFill/>
          <a:ln/>
        </p:spPr>
        <p:txBody>
          <a:bodyPr wrap="square" lIns="0" tIns="0" rIns="0" bIns="0" rtlCol="0" anchor="ctr"/>
          <a:lstStyle/>
          <a:p>
            <a:pPr indent="0" marL="0">
              <a:buNone/>
            </a:pPr>
            <a:r>
              <a:rPr lang="en-US" sz="1500" b="1" dirty="0">
                <a:solidFill>
                  <a:srgbClr val="F3C6C0"/>
                </a:solidFill>
                <a:latin typeface="Calibri" pitchFamily="34" charset="0"/>
                <a:ea typeface="Calibri" pitchFamily="34" charset="-122"/>
                <a:cs typeface="Calibri" pitchFamily="34" charset="-120"/>
              </a:rPr>
              <a:t>What did not</a:t>
            </a:r>
            <a:endParaRPr lang="en-US" sz="1500" dirty="0"/>
          </a:p>
        </p:txBody>
      </p:sp>
      <p:sp>
        <p:nvSpPr>
          <p:cNvPr id="6" name="Text 4"/>
          <p:cNvSpPr txBox="1"/>
          <p:nvPr/>
        </p:nvSpPr>
        <p:spPr>
          <a:xfrm>
            <a:off x="443484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8-K signals add nothing measurable to the forecast, across three independent tests.</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1150" dirty="0"/>
          </a:p>
        </p:txBody>
      </p:sp>
      <p:sp>
        <p:nvSpPr>
          <p:cNvPr id="7" name="Text 5"/>
          <p:cNvSpPr txBox="1"/>
          <p:nvPr/>
        </p:nvSpPr>
        <p:spPr>
          <a:xfrm>
            <a:off x="822960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we would say about the future</a:t>
            </a:r>
            <a:endParaRPr lang="en-US" sz="1500" dirty="0"/>
          </a:p>
        </p:txBody>
      </p:sp>
      <p:sp>
        <p:nvSpPr>
          <p:cNvPr id="8" name="Text 6"/>
          <p:cNvSpPr txBox="1"/>
          <p:nvPr/>
        </p:nvSpPr>
        <p:spPr>
          <a:xfrm>
            <a:off x="822960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second half of the window runs at +0.62 against +1.12 in the first. The later figure is the more honest forward expectation; 2021-22 dominates the full-period number.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book's job is neutrality, not return. We would size it as a hedge, not as a second source of alpha.</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 evaluated the test period 13 times. Nine followed a diagnosed defect; three were genuine trials, one of which we removed after it failed.</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improvement we would make next is sector neutrality: 90% of capital sits in sector bets nobody chose. We tested it four ways and report it as untested rather than rejected - the appendix explains why our sample cannot resolve an effect that size.</a:t>
            </a:r>
            <a:endParaRPr lang="en-US" sz="1150" dirty="0"/>
          </a:p>
        </p:txBody>
      </p:sp>
      <p:sp>
        <p:nvSpPr>
          <p:cNvPr id="9" name="Text 7"/>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Every one of these was measured, not asserted. The appendix carries the regressions, the research log and the compliance output.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Long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Short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2019-20 (pre-test validation)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+25.03%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  (t +0.1)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+5.42%  (t +1.1)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-3.07%  (t -0.5)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-29.35%  (t -2.5)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+8.81%  (t +2.4)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-1.61%  (t -0.2)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almost intact (-26.90% vs -25.62%), so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The long leg also shows skill in only one regime. If we discount the short result as regime-specific, the same scepticism applies to the long one. The framing we prefer is that the legs take turns: shorts pay when speculative names unwind, longs pay when quality leads.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09728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743200"/>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Loadings on size and value are insignificant, and the three-factor regression leaves most of the variation unexplained (t=+2.47, R2 0.15).</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Three were genuine trials: the tree model, turnover control, and the 8-K feature set. We removed the third after it failed its pre-declared test.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 proposed improvement we tested and did not adopt</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Sector neutrality: what the experiments said, and why they cannot settle it</a:t>
            </a:r>
            <a:endParaRPr lang="en-US" sz="1300" dirty="0"/>
          </a:p>
        </p:txBody>
      </p:sp>
      <p:sp>
        <p:nvSpPr>
          <p:cNvPr id="5" name="Text 3"/>
          <p:cNvSpPr txBox="1"/>
          <p:nvPr/>
        </p:nvSpPr>
        <p:spPr>
          <a:xfrm>
            <a:off x="548640" y="1481328"/>
            <a:ext cx="55778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book carries a sector bet nobody chose</a:t>
            </a:r>
            <a:endParaRPr lang="en-US" sz="1300" dirty="0"/>
          </a:p>
        </p:txBody>
      </p:sp>
      <p:sp>
        <p:nvSpPr>
          <p:cNvPr id="6" name="Text 4"/>
          <p:cNvSpPr txBox="1"/>
          <p:nvPr/>
        </p:nvSpPr>
        <p:spPr>
          <a:xfrm>
            <a:off x="548640" y="1810512"/>
            <a:ext cx="55778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Residualising the score on sector dummies removes each sector's mean, not its skew. The traded book averages 8 technology longs against 28 shorts, and 89.7% of capital sits in net sector positions.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Shrinking those nets toward zero and restoring gross traces the whole curve: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798064"/>
          <a:ext cx="5577840" cy="914400"/>
        </p:xfrm>
        <a:graphic>
          <a:graphicData uri="http://schemas.openxmlformats.org/drawingml/2006/table">
            <a:tbl>
              <a:tblPr/>
              <a:tblGrid>
                <a:gridCol w="1691640"/>
                <a:gridCol w="1051560"/>
                <a:gridCol w="1051560"/>
                <a:gridCol w="868680"/>
                <a:gridCol w="91440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Neutralisation</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 sector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Spread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IR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none (traded book)</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89.7%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 quarter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73.2%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half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53.6%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three quarters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+17.85%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fully neutral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+19.28%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14.68%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4315968"/>
            <a:ext cx="55778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Volatility is flat until sector exposure falls below about half of capital, then rises. Variant S sits at 38.2%, where the curve predicts its volatility to within 0.11pp - so its flat vol is not a puzzle. Its return, though, beats the curve by 4.2pp: only about a third of variant S's gain is the sector exposure it removes.</a:t>
            </a:r>
            <a:endParaRPr lang="en-US" sz="1000" dirty="0"/>
          </a:p>
        </p:txBody>
      </p:sp>
      <p:sp>
        <p:nvSpPr>
          <p:cNvPr id="9" name="Text 6"/>
          <p:cNvSpPr txBox="1"/>
          <p:nvPr/>
        </p:nvSpPr>
        <p:spPr>
          <a:xfrm>
            <a:off x="6492240" y="1481328"/>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Four rounds of testing, three reversals</a:t>
            </a:r>
            <a:endParaRPr lang="en-US" sz="1300" dirty="0"/>
          </a:p>
        </p:txBody>
      </p:sp>
      <p:sp>
        <p:nvSpPr>
          <p:cNvPr id="10" name="Text 7"/>
          <p:cNvSpPr txBox="1"/>
          <p:nvPr/>
        </p:nvSpPr>
        <p:spPr>
          <a:xfrm>
            <a:off x="6492240" y="1810512"/>
            <a:ext cx="51206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Picking inside sectors loses on the clean 2019-20 window and gains nothing on the test period - until the quota rule, smoothing and buffer are varied, after which it leads in 7 of 18 configurations (binomial p = 0.48). Under a true null the best of 18 reaches ours essentially always.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 no-sector rule that evicts the weakest names beat the sector cap at one smoothing setting and lost at the other two, net of costs. We withdrew that conclusion too.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92240" y="3310128"/>
          <a:ext cx="5120640" cy="914400"/>
        </p:xfrm>
        <a:graphic>
          <a:graphicData uri="http://schemas.openxmlformats.org/drawingml/2006/table">
            <a:tbl>
              <a:tblPr/>
              <a:tblGrid>
                <a:gridCol w="210312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Net of 20bps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Validation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Test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Traded book</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Sector cap 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Evict 10/month</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2" name="Text 8"/>
          <p:cNvSpPr txBox="1"/>
          <p:nvPr/>
        </p:nvSpPr>
        <p:spPr>
          <a:xfrm>
            <a:off x="6492240" y="4315968"/>
            <a:ext cx="51206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Every arm beats the traded book on the test period and loses to it on the only window the model never saw. Exploratory arms were run on an earlier build (baseline +0.85); the dose curve and variant S are on the submitted book.</a:t>
            </a:r>
            <a:endParaRPr lang="en-US" sz="1000" dirty="0"/>
          </a:p>
        </p:txBody>
      </p:sp>
      <p:sp>
        <p:nvSpPr>
          <p:cNvPr id="13" name="Shape 9"/>
          <p:cNvSpPr/>
          <p:nvPr/>
        </p:nvSpPr>
        <p:spPr>
          <a:xfrm>
            <a:off x="548640" y="5047488"/>
            <a:ext cx="11064240" cy="1133856"/>
          </a:xfrm>
          <a:prstGeom prst="roundRect">
            <a:avLst>
              <a:gd name="adj" fmla="val 4032"/>
            </a:avLst>
          </a:prstGeom>
          <a:solidFill>
            <a:srgbClr val="F2F5FC"/>
          </a:solidFill>
          <a:ln w="12700">
            <a:solidFill>
              <a:srgbClr val="F2F5FC"/>
            </a:solidFill>
            <a:prstDash val="solid"/>
          </a:ln>
        </p:spPr>
      </p:sp>
      <p:sp>
        <p:nvSpPr>
          <p:cNvPr id="14" name="Text 10"/>
          <p:cNvSpPr txBox="1"/>
          <p:nvPr/>
        </p:nvSpPr>
        <p:spPr>
          <a:xfrm>
            <a:off x="777240" y="51755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none of it can be acted on</a:t>
            </a:r>
            <a:endParaRPr lang="en-US" sz="1150" dirty="0"/>
          </a:p>
        </p:txBody>
      </p:sp>
      <p:sp>
        <p:nvSpPr>
          <p:cNvPr id="15" name="Text 11"/>
          <p:cNvSpPr txBox="1"/>
          <p:nvPr/>
        </p:nvSpPr>
        <p:spPr>
          <a:xfrm>
            <a:off x="777240" y="5449824"/>
            <a:ext cx="10607040" cy="694944"/>
          </a:xfrm>
          <a:prstGeom prst="rect">
            <a:avLst/>
          </a:prstGeom>
          <a:noFill/>
          <a:ln/>
        </p:spPr>
        <p:txBody>
          <a:bodyPr wrap="square" lIns="0" tIns="0" rIns="0" bIns="0" rtlCol="0" anchor="t"/>
          <a:lstStyle/>
          <a:p>
            <a:pPr indent="0" marL="0">
              <a:lnSpc>
                <a:spcPct val="102000"/>
              </a:lnSpc>
              <a:buNone/>
            </a:pPr>
            <a:r>
              <a:rPr lang="en-US" sz="1050" b="1" dirty="0">
                <a:solidFill>
                  <a:srgbClr val="1A1A1A"/>
                </a:solidFill>
                <a:latin typeface="Calibri" pitchFamily="34" charset="0"/>
                <a:ea typeface="Calibri" pitchFamily="34" charset="-122"/>
                <a:cs typeface="Calibri" pitchFamily="34" charset="-120"/>
              </a:rPr>
              <a:t>A 24-month validation window cannot detect an information-ratio gap below 1.12; the 68-month test period cannot detect one below 0.66. Every effect measured here is between +0.2 and +0.4.</a:t>
            </a:r>
            <a:endParaRPr lang="en-US" sz="1050" dirty="0"/>
          </a:p>
          <a:p>
            <a:pPr indent="0" marL="0">
              <a:lnSpc>
                <a:spcPct val="102000"/>
              </a:lnSpc>
              <a:buNone/>
            </a:pPr>
            <a:r>
              <a:rPr lang="en-US" sz="1050" dirty="0">
                <a:solidFill>
                  <a:srgbClr val="6B7280"/>
                </a:solidFill>
                <a:latin typeface="Calibri" pitchFamily="34" charset="0"/>
                <a:ea typeface="Calibri" pitchFamily="34" charset="-122"/>
                <a:cs typeface="Calibri" pitchFamily="34" charset="-120"/>
              </a:rPr>
              <a:t>Conclusions that reverse when a smoothing parameter moves are what a sub-resolution effect looks like, and ours reversed three times. We report sector neutrality as untested rather than rejected, and we did not change the book on evidence our own sample cannot resolve.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2026-09-27T20:29:43Z</dcterms:created>
  <dcterms:modified xsi:type="dcterms:W3CDTF">2026-09-27T20:29:43Z</dcterms:modified>
</cp:coreProperties>
</file>