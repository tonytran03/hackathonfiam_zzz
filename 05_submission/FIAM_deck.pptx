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 answer is a measured null with three independent lines of evidence, plus one signal that the aggregate was hiding. That is a result,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what drove it, and what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[TEAM NAME - FILL IN]</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[surname]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the 8-K corpus measured and reported</a:t>
            </a:r>
            <a:endParaRPr lang="en-US" sz="1300" dirty="0"/>
          </a:p>
        </p:txBody>
      </p:sp>
      <p:sp>
        <p:nvSpPr>
          <p:cNvPr id="4" name="Text 2"/>
          <p:cNvSpPr txBox="1"/>
          <p:nvPr/>
        </p:nvSpPr>
        <p:spPr>
          <a:xfrm>
            <a:off x="54864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Forecast</a:t>
            </a:r>
            <a:endParaRPr lang="en-US" sz="1300" dirty="0"/>
          </a:p>
        </p:txBody>
      </p:sp>
      <p:sp>
        <p:nvSpPr>
          <p:cNvPr id="5" name="Text 3"/>
          <p:cNvSpPr txBox="1"/>
          <p:nvPr/>
        </p:nvSpPr>
        <p:spPr>
          <a:xfrm>
            <a:off x="548640" y="1773936"/>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50" dirty="0"/>
          </a:p>
        </p:txBody>
      </p:sp>
      <p:sp>
        <p:nvSpPr>
          <p:cNvPr id="6" name="Text 4"/>
          <p:cNvSpPr txBox="1"/>
          <p:nvPr/>
        </p:nvSpPr>
        <p:spPr>
          <a:xfrm>
            <a:off x="548640" y="3977640"/>
            <a:ext cx="539496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Out-of-sample R-squared, benchmarked against zero</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61104"/>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OOS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Monthly 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Gradient-boosted trees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+0.3956%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+0.1354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Ridge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+0.0278%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+0.1193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OLS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+0.0806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Lasso / Elastic Net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negative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440680"/>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a:t>
            </a:r>
            <a:endParaRPr lang="en-US" sz="1000" dirty="0"/>
          </a:p>
        </p:txBody>
      </p:sp>
      <p:sp>
        <p:nvSpPr>
          <p:cNvPr id="9" name="Text 6"/>
          <p:cNvSpPr txBox="1"/>
          <p:nvPr/>
        </p:nvSpPr>
        <p:spPr>
          <a:xfrm>
            <a:off x="630936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8-K corpus: measured, not assumed</a:t>
            </a:r>
            <a:endParaRPr lang="en-US" sz="1300" dirty="0"/>
          </a:p>
        </p:txBody>
      </p:sp>
      <p:sp>
        <p:nvSpPr>
          <p:cNvPr id="10" name="Text 7"/>
          <p:cNvSpPr txBox="1"/>
          <p:nvPr/>
        </p:nvSpPr>
        <p:spPr>
          <a:xfrm>
            <a:off x="6309360" y="1773936"/>
            <a:ext cx="530352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27 single-signal tests on item codes. None survives a monthly cross-sectional regression with controls.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Joined into the model: validation rank correlation +0.1087 without, +0.1082 with. No gain.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model's own usage agrees - the ten filing columns take 1.71% of its attention against the 6.37% an average feature would.</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exception: item 5.02 is null in aggregate (+0.046%/mo, t=+0.5) but splits into abrupt departures at -0.640%/mo (t=-1.9) and routine appointments at +0.121%.</a:t>
            </a:r>
            <a:endParaRPr lang="en-US" sz="1050" dirty="0"/>
          </a:p>
        </p:txBody>
      </p:sp>
      <p:sp>
        <p:nvSpPr>
          <p:cNvPr id="11" name="Shape 8"/>
          <p:cNvSpPr/>
          <p:nvPr/>
        </p:nvSpPr>
        <p:spPr>
          <a:xfrm>
            <a:off x="6309360" y="4224528"/>
            <a:ext cx="5303520" cy="1417320"/>
          </a:xfrm>
          <a:prstGeom prst="roundRect">
            <a:avLst>
              <a:gd name="adj" fmla="val 3871"/>
            </a:avLst>
          </a:prstGeom>
          <a:solidFill>
            <a:srgbClr val="F2F5FC"/>
          </a:solidFill>
          <a:ln w="12700">
            <a:solidFill>
              <a:srgbClr val="F2F5FC"/>
            </a:solidFill>
            <a:prstDash val="solid"/>
          </a:ln>
        </p:spPr>
      </p:sp>
      <p:sp>
        <p:nvSpPr>
          <p:cNvPr id="12" name="Text 9"/>
          <p:cNvSpPr txBox="1"/>
          <p:nvPr/>
        </p:nvSpPr>
        <p:spPr>
          <a:xfrm>
            <a:off x="6510528" y="4352544"/>
            <a:ext cx="4937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The trap worth knowing</a:t>
            </a:r>
            <a:endParaRPr lang="en-US" sz="1100" dirty="0"/>
          </a:p>
        </p:txBody>
      </p:sp>
      <p:sp>
        <p:nvSpPr>
          <p:cNvPr id="13" name="Text 10"/>
          <p:cNvSpPr txBox="1"/>
          <p:nvPr/>
        </p:nvSpPr>
        <p:spPr>
          <a:xfrm>
            <a:off x="6510528" y="4608576"/>
            <a:ext cx="4937760" cy="960120"/>
          </a:xfrm>
          <a:prstGeom prst="rect">
            <a:avLst/>
          </a:prstGeom>
          <a:noFill/>
          <a:ln/>
        </p:spPr>
        <p:txBody>
          <a:bodyPr wrap="square" lIns="0" tIns="0" rIns="0" bIns="0" rtlCol="0" anchor="t"/>
          <a:lstStyle/>
          <a:p>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Item 5.02's own heading contains every keyword worth searching for. Measured raw, "appoint" appears in 99.2% of these filings and the sub-item markers in 88-100%. Strip the heading and they fall to 54.5% and below. Any classifier trained on the unstripped text is learning the title.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 worst -6.53%</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 -- 126-day average, not the monthly total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worked</a:t>
            </a:r>
            <a:endParaRPr lang="en-US" sz="1500" dirty="0"/>
          </a:p>
        </p:txBody>
      </p:sp>
      <p:sp>
        <p:nvSpPr>
          <p:cNvPr id="4" name="Text 2"/>
          <p:cNvSpPr txBox="1"/>
          <p:nvPr/>
        </p:nvSpPr>
        <p:spPr>
          <a:xfrm>
            <a:off x="64008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Portfolio construction moved the book from beta -0.537 to -0.159 and cut drawdown from -30% to -6.53%.</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Alpha survives market, size and value: +13.78%/yr, t=+2.47, R2 0.15. It is not a repackaged factor.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1150" dirty="0"/>
          </a:p>
        </p:txBody>
      </p:sp>
      <p:sp>
        <p:nvSpPr>
          <p:cNvPr id="5" name="Text 3"/>
          <p:cNvSpPr txBox="1"/>
          <p:nvPr/>
        </p:nvSpPr>
        <p:spPr>
          <a:xfrm>
            <a:off x="4434840" y="1371600"/>
            <a:ext cx="3520440" cy="292608"/>
          </a:xfrm>
          <a:prstGeom prst="rect">
            <a:avLst/>
          </a:prstGeom>
          <a:noFill/>
          <a:ln/>
        </p:spPr>
        <p:txBody>
          <a:bodyPr wrap="square" lIns="0" tIns="0" rIns="0" bIns="0" rtlCol="0" anchor="ctr"/>
          <a:lstStyle/>
          <a:p>
            <a:pPr indent="0" marL="0">
              <a:buNone/>
            </a:pPr>
            <a:r>
              <a:rPr lang="en-US" sz="1500" b="1" dirty="0">
                <a:solidFill>
                  <a:srgbClr val="F3C6C0"/>
                </a:solidFill>
                <a:latin typeface="Calibri" pitchFamily="34" charset="0"/>
                <a:ea typeface="Calibri" pitchFamily="34" charset="-122"/>
                <a:cs typeface="Calibri" pitchFamily="34" charset="-120"/>
              </a:rPr>
              <a:t>What did not</a:t>
            </a:r>
            <a:endParaRPr lang="en-US" sz="1500" dirty="0"/>
          </a:p>
        </p:txBody>
      </p:sp>
      <p:sp>
        <p:nvSpPr>
          <p:cNvPr id="6" name="Text 4"/>
          <p:cNvSpPr txBox="1"/>
          <p:nvPr/>
        </p:nvSpPr>
        <p:spPr>
          <a:xfrm>
            <a:off x="443484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8-K signals add nothing measurable to the forecast, across three independent tests.</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1150" dirty="0"/>
          </a:p>
        </p:txBody>
      </p:sp>
      <p:sp>
        <p:nvSpPr>
          <p:cNvPr id="7" name="Text 5"/>
          <p:cNvSpPr txBox="1"/>
          <p:nvPr/>
        </p:nvSpPr>
        <p:spPr>
          <a:xfrm>
            <a:off x="822960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we would say about the future</a:t>
            </a:r>
            <a:endParaRPr lang="en-US" sz="1500" dirty="0"/>
          </a:p>
        </p:txBody>
      </p:sp>
      <p:sp>
        <p:nvSpPr>
          <p:cNvPr id="8" name="Text 6"/>
          <p:cNvSpPr txBox="1"/>
          <p:nvPr/>
        </p:nvSpPr>
        <p:spPr>
          <a:xfrm>
            <a:off x="822960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second half of the window runs at +0.62 against +1.12 in the first. The later figure is the more honest forward expectation; 2021-22 dominates the full-period number.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book's job is neutrality, not return. We would size it as a hedge, not as a second source of alpha.</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 evaluated the test period 13 times. Nine followed a diagnosed defect; three were genuine trials, one of which we removed after it failed.</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improvement we would make next is sector neutrality: 90% of capital sits in sector bets nobody chose. We tested it four ways and report it as untested rather than rejected - the appendix explains why our sample cannot resolve an effect that size.</a:t>
            </a:r>
            <a:endParaRPr lang="en-US" sz="1150" dirty="0"/>
          </a:p>
        </p:txBody>
      </p:sp>
      <p:sp>
        <p:nvSpPr>
          <p:cNvPr id="9" name="Text 7"/>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Every one of these was measured, not asserted. The appendix carries the regressions, the research log and the compliance output.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Three were genuine trials: the tree model, turnover control, and the 8-K feature set. We removed the third after it failed its pre-declared test.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2026-09-28T20:30:43Z</dcterms:created>
  <dcterms:modified xsi:type="dcterms:W3CDTF">2026-09-28T20:30:43Z</dcterms:modified>
</cp:coreProperties>
</file>