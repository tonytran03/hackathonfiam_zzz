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holding is named by ticker and full company name. The short book is more liquid than the long book: median daily dollar volume $1150.3m against long leg $559.3m.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627632"/>
            <a:ext cx="347472" cy="347472"/>
          </a:xfrm>
          <a:prstGeom prst="ellipse">
            <a:avLst/>
          </a:prstGeom>
          <a:solidFill>
            <a:srgbClr val="1E2761"/>
          </a:solidFill>
          <a:ln w="12700">
            <a:solidFill>
              <a:srgbClr val="1E2761"/>
            </a:solidFill>
            <a:prstDash val="solid"/>
          </a:ln>
        </p:spPr>
      </p:sp>
      <p:sp>
        <p:nvSpPr>
          <p:cNvPr id="5" name="Text 3"/>
          <p:cNvSpPr txBox="1"/>
          <p:nvPr/>
        </p:nvSpPr>
        <p:spPr>
          <a:xfrm>
            <a:off x="566928" y="1673352"/>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42416" y="1572768"/>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Screen</a:t>
            </a:r>
            <a:endParaRPr lang="en-US" sz="1300" dirty="0"/>
          </a:p>
        </p:txBody>
      </p:sp>
      <p:sp>
        <p:nvSpPr>
          <p:cNvPr id="7" name="Text 5"/>
          <p:cNvSpPr txBox="1"/>
          <p:nvPr/>
        </p:nvSpPr>
        <p:spPr>
          <a:xfrm>
            <a:off x="1042416" y="1847088"/>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Price &gt;= $5, no nano or micro caps. Without it the short book fills with penny stocks: median cap $50m, and -48% in January 2021 alone.</a:t>
            </a:r>
            <a:endParaRPr lang="en-US" sz="1050" dirty="0"/>
          </a:p>
        </p:txBody>
      </p:sp>
      <p:sp>
        <p:nvSpPr>
          <p:cNvPr id="8" name="Shape 6"/>
          <p:cNvSpPr/>
          <p:nvPr/>
        </p:nvSpPr>
        <p:spPr>
          <a:xfrm>
            <a:off x="566928" y="2560320"/>
            <a:ext cx="347472" cy="347472"/>
          </a:xfrm>
          <a:prstGeom prst="ellipse">
            <a:avLst/>
          </a:prstGeom>
          <a:solidFill>
            <a:srgbClr val="1E2761"/>
          </a:solidFill>
          <a:ln w="12700">
            <a:solidFill>
              <a:srgbClr val="1E2761"/>
            </a:solidFill>
            <a:prstDash val="solid"/>
          </a:ln>
        </p:spPr>
      </p:sp>
      <p:sp>
        <p:nvSpPr>
          <p:cNvPr id="9" name="Text 7"/>
          <p:cNvSpPr txBox="1"/>
          <p:nvPr/>
        </p:nvSpPr>
        <p:spPr>
          <a:xfrm>
            <a:off x="566928" y="2606040"/>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42416" y="2505456"/>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Residualise</a:t>
            </a:r>
            <a:endParaRPr lang="en-US" sz="1300" dirty="0"/>
          </a:p>
        </p:txBody>
      </p:sp>
      <p:sp>
        <p:nvSpPr>
          <p:cNvPr id="11" name="Text 9"/>
          <p:cNvSpPr txBox="1"/>
          <p:nvPr/>
        </p:nvSpPr>
        <p:spPr>
          <a:xfrm>
            <a:off x="1042416" y="2779776"/>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 Neutrality is enforced on the signal, not patched onto the weights.</a:t>
            </a:r>
            <a:endParaRPr lang="en-US" sz="1050" dirty="0"/>
          </a:p>
        </p:txBody>
      </p:sp>
      <p:sp>
        <p:nvSpPr>
          <p:cNvPr id="12" name="Shape 10"/>
          <p:cNvSpPr/>
          <p:nvPr/>
        </p:nvSpPr>
        <p:spPr>
          <a:xfrm>
            <a:off x="566928" y="3493008"/>
            <a:ext cx="347472" cy="347472"/>
          </a:xfrm>
          <a:prstGeom prst="ellipse">
            <a:avLst/>
          </a:prstGeom>
          <a:solidFill>
            <a:srgbClr val="1E2761"/>
          </a:solidFill>
          <a:ln w="12700">
            <a:solidFill>
              <a:srgbClr val="1E2761"/>
            </a:solidFill>
            <a:prstDash val="solid"/>
          </a:ln>
        </p:spPr>
      </p:sp>
      <p:sp>
        <p:nvSpPr>
          <p:cNvPr id="13" name="Text 11"/>
          <p:cNvSpPr txBox="1"/>
          <p:nvPr/>
        </p:nvSpPr>
        <p:spPr>
          <a:xfrm>
            <a:off x="566928" y="3538728"/>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42416" y="3438144"/>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Smooth</a:t>
            </a:r>
            <a:endParaRPr lang="en-US" sz="1300" dirty="0"/>
          </a:p>
        </p:txBody>
      </p:sp>
      <p:sp>
        <p:nvSpPr>
          <p:cNvPr id="15" name="Text 13"/>
          <p:cNvSpPr txBox="1"/>
          <p:nvPr/>
        </p:nvSpPr>
        <p:spPr>
          <a:xfrm>
            <a:off x="1042416" y="3712464"/>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Scores averaged over three months. Turnover falls from 56% to 24.6%; break-even cost rises to 93bps.</a:t>
            </a:r>
            <a:endParaRPr lang="en-US" sz="1050" dirty="0"/>
          </a:p>
        </p:txBody>
      </p:sp>
      <p:sp>
        <p:nvSpPr>
          <p:cNvPr id="16" name="Shape 14"/>
          <p:cNvSpPr/>
          <p:nvPr/>
        </p:nvSpPr>
        <p:spPr>
          <a:xfrm>
            <a:off x="566928" y="4425696"/>
            <a:ext cx="347472" cy="347472"/>
          </a:xfrm>
          <a:prstGeom prst="ellipse">
            <a:avLst/>
          </a:prstGeom>
          <a:solidFill>
            <a:srgbClr val="1E2761"/>
          </a:solidFill>
          <a:ln w="12700">
            <a:solidFill>
              <a:srgbClr val="1E2761"/>
            </a:solidFill>
            <a:prstDash val="solid"/>
          </a:ln>
        </p:spPr>
      </p:sp>
      <p:sp>
        <p:nvSpPr>
          <p:cNvPr id="17" name="Text 15"/>
          <p:cNvSpPr txBox="1"/>
          <p:nvPr/>
        </p:nvSpPr>
        <p:spPr>
          <a:xfrm>
            <a:off x="566928" y="4471416"/>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042416" y="4370832"/>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Size</a:t>
            </a:r>
            <a:endParaRPr lang="en-US" sz="1300" dirty="0"/>
          </a:p>
        </p:txBody>
      </p:sp>
      <p:sp>
        <p:nvSpPr>
          <p:cNvPr id="19" name="Text 17"/>
          <p:cNvSpPr txBox="1"/>
          <p:nvPr/>
        </p:nvSpPr>
        <p:spPr>
          <a:xfrm>
            <a:off x="1042416" y="4645152"/>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Inverse-volatility weights inside each leg, capped near 2%. The information ratio is a ratio - the denominator counts.</a:t>
            </a:r>
            <a:endParaRPr lang="en-US" sz="1050" dirty="0"/>
          </a:p>
        </p:txBody>
      </p:sp>
      <p:sp>
        <p:nvSpPr>
          <p:cNvPr id="20" name="Shape 18"/>
          <p:cNvSpPr/>
          <p:nvPr/>
        </p:nvSpPr>
        <p:spPr>
          <a:xfrm>
            <a:off x="566928" y="5358384"/>
            <a:ext cx="347472" cy="347472"/>
          </a:xfrm>
          <a:prstGeom prst="ellipse">
            <a:avLst/>
          </a:prstGeom>
          <a:solidFill>
            <a:srgbClr val="1E2761"/>
          </a:solidFill>
          <a:ln w="12700">
            <a:solidFill>
              <a:srgbClr val="1E2761"/>
            </a:solidFill>
            <a:prstDash val="solid"/>
          </a:ln>
        </p:spPr>
      </p:sp>
      <p:sp>
        <p:nvSpPr>
          <p:cNvPr id="21" name="Text 19"/>
          <p:cNvSpPr txBox="1"/>
          <p:nvPr/>
        </p:nvSpPr>
        <p:spPr>
          <a:xfrm>
            <a:off x="566928" y="5404104"/>
            <a:ext cx="347472"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042416" y="5303520"/>
            <a:ext cx="192024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Match beta</a:t>
            </a:r>
            <a:endParaRPr lang="en-US" sz="1300" dirty="0"/>
          </a:p>
        </p:txBody>
      </p:sp>
      <p:sp>
        <p:nvSpPr>
          <p:cNvPr id="23" name="Text 21"/>
          <p:cNvSpPr txBox="1"/>
          <p:nvPr/>
        </p:nvSpPr>
        <p:spPr>
          <a:xfrm>
            <a:off x="1042416" y="5577840"/>
            <a:ext cx="5029200" cy="603504"/>
          </a:xfrm>
          <a:prstGeom prst="rect">
            <a:avLst/>
          </a:prstGeom>
          <a:noFill/>
          <a:ln/>
        </p:spPr>
        <p:txBody>
          <a:bodyPr wrap="square" lIns="0" tIns="0" rIns="0" bIns="0" rtlCol="0" anchor="ctr"/>
          <a:lstStyle/>
          <a:p>
            <a:pPr indent="0" marL="0">
              <a:lnSpc>
                <a:spcPct val="100000"/>
              </a:lnSpc>
              <a:buNone/>
            </a:pPr>
            <a:r>
              <a:rPr lang="en-US" sz="105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 which ran 0.30 too high on the long side.</a:t>
            </a:r>
            <a:endParaRPr lang="en-US" sz="1050" dirty="0"/>
          </a:p>
        </p:txBody>
      </p:sp>
      <p:sp>
        <p:nvSpPr>
          <p:cNvPr id="24" name="Text 22"/>
          <p:cNvSpPr txBox="1"/>
          <p:nvPr/>
        </p:nvSpPr>
        <p:spPr>
          <a:xfrm>
            <a:off x="6492240" y="1517904"/>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long positions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92240" y="1792224"/>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INCY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INCYTE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USNA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USANA HEALTH SCIENCES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YELP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YELP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NNI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NELNET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GOOGL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ALPHABET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HSTM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HEALTHSTREAM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TNET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TRINET GROUP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CORT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CORCEPT THERAPEUTICS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6" name="Text 23"/>
          <p:cNvSpPr txBox="1"/>
          <p:nvPr/>
        </p:nvSpPr>
        <p:spPr>
          <a:xfrm>
            <a:off x="6492240" y="4114800"/>
            <a:ext cx="2651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Largest average short positions</a:t>
            </a:r>
            <a:endParaRPr lang="en-US" sz="11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492240" y="4389120"/>
          <a:ext cx="5120640" cy="914400"/>
        </p:xfrm>
        <a:graphic>
          <a:graphicData uri="http://schemas.openxmlformats.org/drawingml/2006/table">
            <a:tbl>
              <a:tblPr/>
              <a:tblGrid>
                <a:gridCol w="777240"/>
                <a:gridCol w="3291840"/>
                <a:gridCol w="10515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Ticker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Avg wt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FSLR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FIRST SOLAR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DAL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DELTA AIR LINES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-0.72%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LVS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LAS VEGAS SANDS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UAL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UNITED AIRLINES HOLDINGS I</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SWCH</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SWITCH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VIRT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VIRTU FINANCIAL INC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PCG</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P G &amp; E CORP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AMERICAN AIRLINES GROUP IN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 worst -6.53%</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$1150.3m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$559.3m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-0.159 and cut drawdown from -30% to -6.53%.</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+13.78%/yr, t=+2.47, R2 0.15.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+0.62 against +1.12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2026-09-27T20:07:24Z</dcterms:created>
  <dcterms:modified xsi:type="dcterms:W3CDTF">2026-09-27T20:07:24Z</dcterms:modified>
</cp:coreProperties>
</file>