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answers the brief's four questions in order: how the legs are built, which neutrality we enforce, which signals drive it, and the top ten of each leg with the cumulative chart. Short book median daily dollar volume $55m, long leg $27m.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answers three of the brief's questions: why this model, how training is structured, and which characteristics drive it. The agentic paragraph answers the fourth honestly - our pipeline is not agentic, and that is a choice we can defend rather than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+38.51% coincides with a -19.44%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which signals drove it, which positions, which macro events, and what you would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
        <p:nvSpPr>
          <p:cNvPr id="22" name="Text 20"/>
          <p:cNvSpPr txBox="1"/>
          <p:nvPr/>
        </p:nvSpPr>
        <p:spPr>
          <a:xfrm>
            <a:off x="731520" y="6053328"/>
            <a:ext cx="10698480" cy="566928"/>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[TEAM NAME - FILL IN]</a:t>
            </a:r>
            <a:endParaRPr lang="en-US" sz="1200" dirty="0"/>
          </a:p>
          <a:p>
            <a:pPr indent="0" marL="0">
              <a:lnSpc>
                <a:spcPct val="105000"/>
              </a:lnSpc>
              <a:buNone/>
            </a:pPr>
            <a:r>
              <a:rPr lang="en-US" sz="1200" dirty="0">
                <a:solidFill>
                  <a:srgbClr val="CADCFC"/>
                </a:solidFill>
                <a:latin typeface="Calibri" pitchFamily="34" charset="0"/>
                <a:ea typeface="Calibri" pitchFamily="34" charset="-122"/>
                <a:cs typeface="Calibri" pitchFamily="34" charset="-120"/>
              </a:rPr>
              <a:t>Junhong Zhou   ·   Tony Tran   ·   Faig Haji   ·   Bohan Zhang   ·   Alex [surname]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444752"/>
            <a:ext cx="274320" cy="274320"/>
          </a:xfrm>
          <a:prstGeom prst="ellipse">
            <a:avLst/>
          </a:prstGeom>
          <a:solidFill>
            <a:srgbClr val="1E2761"/>
          </a:solidFill>
          <a:ln w="12700">
            <a:solidFill>
              <a:srgbClr val="1E2761"/>
            </a:solidFill>
            <a:prstDash val="solid"/>
          </a:ln>
        </p:spPr>
      </p:sp>
      <p:sp>
        <p:nvSpPr>
          <p:cNvPr id="5" name="Text 3"/>
          <p:cNvSpPr txBox="1"/>
          <p:nvPr/>
        </p:nvSpPr>
        <p:spPr>
          <a:xfrm>
            <a:off x="566928" y="147675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50976" y="142646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Screen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Price &gt;= $5, no nano or micro caps. Unscreened, the short book had a $50m median cap and a $2.63 median price - not borrowable at size.</a:t>
            </a:r>
            <a:endParaRPr lang="en-US" sz="1000" dirty="0"/>
          </a:p>
        </p:txBody>
      </p:sp>
      <p:sp>
        <p:nvSpPr>
          <p:cNvPr id="7" name="Shape 5"/>
          <p:cNvSpPr/>
          <p:nvPr/>
        </p:nvSpPr>
        <p:spPr>
          <a:xfrm>
            <a:off x="566928" y="1947672"/>
            <a:ext cx="274320" cy="274320"/>
          </a:xfrm>
          <a:prstGeom prst="ellipse">
            <a:avLst/>
          </a:prstGeom>
          <a:solidFill>
            <a:srgbClr val="1E2761"/>
          </a:solidFill>
          <a:ln w="12700">
            <a:solidFill>
              <a:srgbClr val="1E2761"/>
            </a:solidFill>
            <a:prstDash val="solid"/>
          </a:ln>
        </p:spPr>
      </p:sp>
      <p:sp>
        <p:nvSpPr>
          <p:cNvPr id="8" name="Text 6"/>
          <p:cNvSpPr txBox="1"/>
          <p:nvPr/>
        </p:nvSpPr>
        <p:spPr>
          <a:xfrm>
            <a:off x="566928" y="197967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50976" y="192938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Residualise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a:t>
            </a:r>
            <a:endParaRPr lang="en-US" sz="1000" dirty="0"/>
          </a:p>
        </p:txBody>
      </p:sp>
      <p:sp>
        <p:nvSpPr>
          <p:cNvPr id="10" name="Shape 8"/>
          <p:cNvSpPr/>
          <p:nvPr/>
        </p:nvSpPr>
        <p:spPr>
          <a:xfrm>
            <a:off x="566928" y="2450592"/>
            <a:ext cx="274320" cy="274320"/>
          </a:xfrm>
          <a:prstGeom prst="ellipse">
            <a:avLst/>
          </a:prstGeom>
          <a:solidFill>
            <a:srgbClr val="1E2761"/>
          </a:solidFill>
          <a:ln w="12700">
            <a:solidFill>
              <a:srgbClr val="1E2761"/>
            </a:solidFill>
            <a:prstDash val="solid"/>
          </a:ln>
        </p:spPr>
      </p:sp>
      <p:sp>
        <p:nvSpPr>
          <p:cNvPr id="11" name="Text 9"/>
          <p:cNvSpPr txBox="1"/>
          <p:nvPr/>
        </p:nvSpPr>
        <p:spPr>
          <a:xfrm>
            <a:off x="566928" y="248259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50976" y="243230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Smooth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Scores averaged over three months. Turnover falls 56% to 24.6%; break-even rises to 100 bps.</a:t>
            </a:r>
            <a:endParaRPr lang="en-US" sz="1000" dirty="0"/>
          </a:p>
        </p:txBody>
      </p:sp>
      <p:sp>
        <p:nvSpPr>
          <p:cNvPr id="13" name="Shape 11"/>
          <p:cNvSpPr/>
          <p:nvPr/>
        </p:nvSpPr>
        <p:spPr>
          <a:xfrm>
            <a:off x="566928" y="2953512"/>
            <a:ext cx="274320" cy="274320"/>
          </a:xfrm>
          <a:prstGeom prst="ellipse">
            <a:avLst/>
          </a:prstGeom>
          <a:solidFill>
            <a:srgbClr val="1E2761"/>
          </a:solidFill>
          <a:ln w="12700">
            <a:solidFill>
              <a:srgbClr val="1E2761"/>
            </a:solidFill>
            <a:prstDash val="solid"/>
          </a:ln>
        </p:spPr>
      </p:sp>
      <p:sp>
        <p:nvSpPr>
          <p:cNvPr id="14" name="Text 12"/>
          <p:cNvSpPr txBox="1"/>
          <p:nvPr/>
        </p:nvSpPr>
        <p:spPr>
          <a:xfrm>
            <a:off x="566928" y="298551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50976" y="293522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Size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Inverse-volatility weights inside each leg, capped near 2% of capital.</a:t>
            </a:r>
            <a:endParaRPr lang="en-US" sz="1000" dirty="0"/>
          </a:p>
        </p:txBody>
      </p:sp>
      <p:sp>
        <p:nvSpPr>
          <p:cNvPr id="16" name="Shape 14"/>
          <p:cNvSpPr/>
          <p:nvPr/>
        </p:nvSpPr>
        <p:spPr>
          <a:xfrm>
            <a:off x="566928" y="3456432"/>
            <a:ext cx="274320" cy="274320"/>
          </a:xfrm>
          <a:prstGeom prst="ellipse">
            <a:avLst/>
          </a:prstGeom>
          <a:solidFill>
            <a:srgbClr val="1E2761"/>
          </a:solidFill>
          <a:ln w="12700">
            <a:solidFill>
              <a:srgbClr val="1E2761"/>
            </a:solidFill>
            <a:prstDash val="solid"/>
          </a:ln>
        </p:spPr>
      </p:sp>
      <p:sp>
        <p:nvSpPr>
          <p:cNvPr id="17" name="Text 15"/>
          <p:cNvSpPr txBox="1"/>
          <p:nvPr/>
        </p:nvSpPr>
        <p:spPr>
          <a:xfrm>
            <a:off x="566928" y="348843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50976" y="343814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Match beta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a:t>
            </a:r>
            <a:endParaRPr lang="en-US" sz="1000" dirty="0"/>
          </a:p>
        </p:txBody>
      </p:sp>
      <p:sp>
        <p:nvSpPr>
          <p:cNvPr id="19" name="Shape 17"/>
          <p:cNvSpPr/>
          <p:nvPr/>
        </p:nvSpPr>
        <p:spPr>
          <a:xfrm>
            <a:off x="548640" y="3968496"/>
            <a:ext cx="5349240" cy="932688"/>
          </a:xfrm>
          <a:prstGeom prst="roundRect">
            <a:avLst>
              <a:gd name="adj" fmla="val 4902"/>
            </a:avLst>
          </a:prstGeom>
          <a:solidFill>
            <a:srgbClr val="F2F5FC"/>
          </a:solidFill>
          <a:ln w="12700">
            <a:solidFill>
              <a:srgbClr val="F2F5FC"/>
            </a:solidFill>
            <a:prstDash val="solid"/>
          </a:ln>
        </p:spPr>
      </p:sp>
      <p:sp>
        <p:nvSpPr>
          <p:cNvPr id="20" name="Text 18"/>
          <p:cNvSpPr txBox="1"/>
          <p:nvPr/>
        </p:nvSpPr>
        <p:spPr>
          <a:xfrm>
            <a:off x="749808" y="4059936"/>
            <a:ext cx="4983480" cy="457200"/>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Neutrality enforced: beta, not dollar.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The legs are sized so their beta-weighted exposures cancel, so net dollar exposure averages +12.5% rather than zero. Realised beta is -0.159 (se 0.120), correlation with the S&amp;P 500 -0.19.</a:t>
            </a:r>
            <a:endParaRPr lang="en-US" sz="950" dirty="0"/>
          </a:p>
        </p:txBody>
      </p:sp>
      <p:sp>
        <p:nvSpPr>
          <p:cNvPr id="21" name="Text 19"/>
          <p:cNvSpPr txBox="1"/>
          <p:nvPr/>
        </p:nvSpPr>
        <p:spPr>
          <a:xfrm>
            <a:off x="749808" y="4535424"/>
            <a:ext cx="4983480" cy="310896"/>
          </a:xfrm>
          <a:prstGeom prst="rect">
            <a:avLst/>
          </a:prstGeom>
          <a:noFill/>
          <a:ln/>
        </p:spPr>
        <p:txBody>
          <a:bodyPr wrap="square" lIns="0" tIns="0" rIns="0" bIns="0" rtlCol="0" anchor="t"/>
          <a:lstStyle/>
          <a:p>
            <a:pPr indent="0" marL="0">
              <a:lnSpc>
                <a:spcPct val="100000"/>
              </a:lnSpc>
              <a:buNone/>
            </a:pPr>
            <a:r>
              <a:rPr lang="en-US" sz="900" b="1" dirty="0">
                <a:solidFill>
                  <a:srgbClr val="1E2761"/>
                </a:solidFill>
                <a:latin typeface="Calibri" pitchFamily="34" charset="0"/>
                <a:ea typeface="Calibri" pitchFamily="34" charset="-122"/>
                <a:cs typeface="Calibri" pitchFamily="34" charset="-120"/>
              </a:rPr>
              <a:t>Signals driving the forecast: </a:t>
            </a:r>
            <a:pPr indent="0" marL="0">
              <a:lnSpc>
                <a:spcPct val="100000"/>
              </a:lnSpc>
              <a:buNone/>
            </a:pPr>
            <a:r>
              <a:rPr lang="en-US" sz="900" dirty="0">
                <a:solidFill>
                  <a:srgbClr val="1A1A1A"/>
                </a:solidFill>
                <a:latin typeface="Calibri" pitchFamily="34" charset="0"/>
                <a:ea typeface="Calibri" pitchFamily="34" charset="-122"/>
                <a:cs typeface="Calibri" pitchFamily="34" charset="-120"/>
              </a:rPr>
              <a:t>profitability 20%, investment 19%, risk 19%, past returns 11% of the model's split gain, across 147 characteristics. Full ranking on page 3.</a:t>
            </a:r>
            <a:endParaRPr lang="en-US" sz="900" dirty="0"/>
          </a:p>
        </p:txBody>
      </p:sp>
      <p:pic>
        <p:nvPicPr>
          <p:cNvPr id="22" name="Image 0" descr="C:\Users\junho\AppData\Local\Temp\claude\fiam_team\05_submission\figures\cumulative.png">    </p:cNvPr>
          <p:cNvPicPr>
            <a:picLocks noChangeAspect="1"/>
          </p:cNvPicPr>
          <p:nvPr/>
        </p:nvPicPr>
        <p:blipFill>
          <a:blip r:embed="rId1"/>
          <a:stretch>
            <a:fillRect/>
          </a:stretch>
        </p:blipFill>
        <p:spPr>
          <a:xfrm>
            <a:off x="457200" y="4983480"/>
            <a:ext cx="5486400" cy="1755648"/>
          </a:xfrm>
          <a:prstGeom prst="rect">
            <a:avLst/>
          </a:prstGeom>
        </p:spPr>
      </p:pic>
      <p:sp>
        <p:nvSpPr>
          <p:cNvPr id="23" name="Text 20"/>
          <p:cNvSpPr txBox="1"/>
          <p:nvPr/>
        </p:nvSpPr>
        <p:spPr>
          <a:xfrm>
            <a:off x="6172200" y="1371600"/>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long positions, average weight 01/2021-08/2026</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72200" y="1609344"/>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INCY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Incyte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Usana Health Sciences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YELP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Yelp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NNI</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Nelnet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GOOGL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Alphabet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HSTM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Healthstream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TNET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Trinet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Corcept Therapeutics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USLM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States Lime Minerals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WINA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Winmark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172200" y="4059936"/>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short positions, average weight 01/2021-08/2026</a:t>
            </a:r>
            <a:endParaRPr lang="en-US" sz="10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72200" y="4297680"/>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FSLR</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First Solar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DAL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Delta Air Lines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LVS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Las Vegas Sands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Airlines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SWCH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Switch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VIRT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Virtu Financial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PCG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PG&amp;E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American Airlines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-0.55%</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CNNE</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Cannae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COOP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Mr Cooper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which of them the model actually uses</a:t>
            </a:r>
            <a:endParaRPr lang="en-US" sz="1300" dirty="0"/>
          </a:p>
        </p:txBody>
      </p:sp>
      <p:sp>
        <p:nvSpPr>
          <p:cNvPr id="4" name="Text 2"/>
          <p:cNvSpPr txBox="1"/>
          <p:nvPr/>
        </p:nvSpPr>
        <p:spPr>
          <a:xfrm>
            <a:off x="548640" y="1444752"/>
            <a:ext cx="530352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Forecast</a:t>
            </a:r>
            <a:endParaRPr lang="en-US" sz="1250" dirty="0"/>
          </a:p>
        </p:txBody>
      </p:sp>
      <p:sp>
        <p:nvSpPr>
          <p:cNvPr id="5" name="Text 3"/>
          <p:cNvSpPr txBox="1"/>
          <p:nvPr/>
        </p:nvSpPr>
        <p:spPr>
          <a:xfrm>
            <a:off x="548640" y="1700784"/>
            <a:ext cx="53949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 Trees won four of the six folds; Ridge joined the blend in 2022 and 2023, on that fold's validation rank correlation.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Weights are fractions of NAV, summing to 200% gross and +12.5% net. Short proceeds sit in 3-month T-bills, which is why the benchmark is cash plus 4% and why the cash leg cancels out of the active return.</a:t>
            </a:r>
            <a:endParaRPr lang="en-US" sz="950" dirty="0"/>
          </a:p>
        </p:txBody>
      </p:sp>
      <p:sp>
        <p:nvSpPr>
          <p:cNvPr id="6" name="Text 4"/>
          <p:cNvSpPr txBox="1"/>
          <p:nvPr/>
        </p:nvSpPr>
        <p:spPr>
          <a:xfrm>
            <a:off x="548640" y="3858768"/>
            <a:ext cx="539496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Out-of-sample R-squared, benchmarked against zero</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OOS R2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Monthly 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Gradient-boosted trees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+0.3956%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+0.1354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Ridge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+0.0278%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OLS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-0.0068%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+0.0806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Lasso / Elastic Net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negative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376672"/>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 The 8-K corpus was measured and excluded - the appendix has all three tests.</a:t>
            </a:r>
            <a:endParaRPr lang="en-US" sz="1000" dirty="0"/>
          </a:p>
        </p:txBody>
      </p:sp>
      <p:sp>
        <p:nvSpPr>
          <p:cNvPr id="9" name="Text 6"/>
          <p:cNvSpPr txBox="1"/>
          <p:nvPr/>
        </p:nvSpPr>
        <p:spPr>
          <a:xfrm>
            <a:off x="6172200" y="1444752"/>
            <a:ext cx="544068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Which characteristics the model uses</a:t>
            </a:r>
            <a:endParaRPr lang="en-US" sz="125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172200" y="1719072"/>
          <a:ext cx="5440680" cy="914400"/>
        </p:xfrm>
        <a:graphic>
          <a:graphicData uri="http://schemas.openxmlformats.org/drawingml/2006/table">
            <a:tbl>
              <a:tblPr/>
              <a:tblGrid>
                <a:gridCol w="3840480"/>
                <a:gridCol w="160020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Family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Share of split gain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profitability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investment / growth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risk / volatility / beta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past returns / momentum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11.1%</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liquidity / trading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valuation</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accruals / quality / distress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1" name="Text 7"/>
          <p:cNvSpPr txBox="1"/>
          <p:nvPr/>
        </p:nvSpPr>
        <p:spPr>
          <a:xfrm>
            <a:off x="6172200" y="3328416"/>
            <a:ext cx="544068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Ten most used characteristics, averaged over six annual refits</a:t>
            </a:r>
            <a:endParaRPr lang="en-US" sz="105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172200" y="3584448"/>
          <a:ext cx="5440680" cy="914400"/>
        </p:xfrm>
        <a:graphic>
          <a:graphicData uri="http://schemas.openxmlformats.org/drawingml/2006/table">
            <a:tbl>
              <a:tblPr/>
              <a:tblGrid>
                <a:gridCol w="1600200"/>
                <a:gridCol w="2834640"/>
                <a:gridCol w="1005840"/>
              </a:tblGrid>
              <a:tr h="187452">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Characteristic</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What it measures</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Share</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ivol_capm_252d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Idiosyncratic volatility vs CAPM, 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7.53%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lti_gr1a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long-term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4.67%</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3.60%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sti_gr1a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short-term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2.13%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ni_me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Earnings yield (net income / market cap)</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1.99%</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rmax5_21d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Mean of 5 best daily returns, 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1.80%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market_equity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Market capitalisation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1.75%</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fcf_me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Free cash flow yield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1.72%</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zero_trades_21d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Zero-volume days in 21d (illiquidity)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op_atl1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lagged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1.66%</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3" name="Shape 8"/>
          <p:cNvSpPr/>
          <p:nvPr/>
        </p:nvSpPr>
        <p:spPr>
          <a:xfrm>
            <a:off x="548640" y="5888736"/>
            <a:ext cx="11064240" cy="859536"/>
          </a:xfrm>
          <a:prstGeom prst="roundRect">
            <a:avLst>
              <a:gd name="adj" fmla="val 5319"/>
            </a:avLst>
          </a:prstGeom>
          <a:solidFill>
            <a:srgbClr val="F2F5FC"/>
          </a:solidFill>
          <a:ln w="12700">
            <a:solidFill>
              <a:srgbClr val="F2F5FC"/>
            </a:solidFill>
            <a:prstDash val="solid"/>
          </a:ln>
        </p:spPr>
      </p:sp>
      <p:sp>
        <p:nvSpPr>
          <p:cNvPr id="14" name="Text 9"/>
          <p:cNvSpPr txBox="1"/>
          <p:nvPr/>
        </p:nvSpPr>
        <p:spPr>
          <a:xfrm>
            <a:off x="749808" y="5971032"/>
            <a:ext cx="10661904" cy="731520"/>
          </a:xfrm>
          <a:prstGeom prst="rect">
            <a:avLst/>
          </a:prstGeom>
          <a:noFill/>
          <a:ln/>
        </p:spPr>
        <p:txBody>
          <a:bodyPr wrap="square" lIns="0" tIns="0" rIns="0" bIns="0" rtlCol="0" anchor="t"/>
          <a:lstStyle/>
          <a:p>
            <a:pPr indent="0" marL="0">
              <a:lnSpc>
                <a:spcPct val="98000"/>
              </a:lnSpc>
              <a:buNone/>
            </a:pPr>
            <a:r>
              <a:rPr lang="en-US" sz="850" b="1" dirty="0">
                <a:solidFill>
                  <a:srgbClr val="1E2761"/>
                </a:solidFill>
                <a:latin typeface="Calibri" pitchFamily="34" charset="0"/>
                <a:ea typeface="Calibri" pitchFamily="34" charset="-122"/>
                <a:cs typeface="Calibri" pitchFamily="34" charset="-120"/>
              </a:rPr>
              <a:t>Where AI was used, and where it deliberately was not.  </a:t>
            </a:r>
            <a:pPr indent="0" marL="0">
              <a:lnSpc>
                <a:spcPct val="98000"/>
              </a:lnSpc>
              <a:buNone/>
            </a:pPr>
            <a:r>
              <a:rPr lang="en-US" sz="850" dirty="0">
                <a:solidFill>
                  <a:srgbClr val="1A1A1A"/>
                </a:solidFill>
                <a:latin typeface="Calibri" pitchFamily="34" charset="0"/>
                <a:ea typeface="Calibri" pitchFamily="34" charset="-122"/>
                <a:cs typeface="Calibri" pitchFamily="34" charset="-120"/>
              </a:rPr>
              <a:t>No part of the traded pipeline is agentic: every forecast comes from LightGBM and Ridge fitted to the supplied characteristics, and no language model reads a filing, proposes a feature or scores a stock. AI was used to write and review pipeline code, to run diagnostics, and to attack our own results - the short-leg regime split, the cross-fold leak in model selection, the survivorship structure of the 8-K linkage and the sector-neutrality tests were all found that way. Keeping it out of the forecast is how we prevent model-side look-ahead: an LLM trained past 2021 cannot be shown a 2021 stock and asked what happens next. Every AI-proposed change was scored on the pre-registered validation window before it was allowed near the book, and the ones that failed there are reported in the appendix rather than dropped.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 S&amp;P +104.63%</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2022-01 / worst -6.53% 2022-08</a:t>
            </a:r>
            <a:endParaRPr lang="en-US" sz="950" dirty="0"/>
          </a:p>
        </p:txBody>
      </p:sp>
      <p:sp>
        <p:nvSpPr>
          <p:cNvPr id="20" name="Text 18"/>
          <p:cNvSpPr txBox="1"/>
          <p:nvPr/>
        </p:nvSpPr>
        <p:spPr>
          <a:xfrm>
            <a:off x="548640" y="3017520"/>
            <a:ext cx="11064240" cy="274320"/>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Each leg separately, per month: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long +1.297%, short +0.004%. The short leg contributes almost nothing on average and earns its place by what it removes, not by what it adds.</a:t>
            </a:r>
            <a:endParaRPr lang="en-US" sz="1000" dirty="0"/>
          </a:p>
        </p:txBody>
      </p:sp>
      <p:sp>
        <p:nvSpPr>
          <p:cNvPr id="21" name="Text 19"/>
          <p:cNvSpPr txBox="1"/>
          <p:nvPr/>
        </p:nvSpPr>
        <p:spPr>
          <a:xfrm>
            <a:off x="548640" y="3364992"/>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657600"/>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3" name="Text 20"/>
          <p:cNvSpPr txBox="1"/>
          <p:nvPr/>
        </p:nvSpPr>
        <p:spPr>
          <a:xfrm>
            <a:off x="6492240" y="3364992"/>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657600"/>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Leg, measured against the eligible universe</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2021-22</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2023-26</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Long leg excess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+6.12%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+9.07%</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Long leg t-statistic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Short leg excess (negative is good)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-15.63%</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-0.44%</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Short leg t-statistic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492240" y="4864608"/>
            <a:ext cx="5120640" cy="566928"/>
          </a:xfrm>
          <a:prstGeom prst="rect">
            <a:avLst/>
          </a:prstGeom>
          <a:noFill/>
          <a:ln/>
        </p:spPr>
        <p:txBody>
          <a:bodyPr wrap="square" lIns="0" tIns="0" rIns="0" bIns="0" rtlCol="0" anchor="ctr"/>
          <a:lstStyle/>
          <a:p>
            <a:pPr indent="0" marL="0">
              <a:lnSpc>
                <a:spcPct val="100000"/>
              </a:lnSpc>
              <a:buNone/>
            </a:pPr>
            <a:r>
              <a:rPr lang="en-US" sz="9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900" dirty="0"/>
          </a:p>
        </p:txBody>
      </p:sp>
      <p:pic>
        <p:nvPicPr>
          <p:cNvPr id="26" name="Image 0" descr="C:\Users\junho\AppData\Local\Temp\claude\fiam_team\05_submission\figures\histogram.png">    </p:cNvPr>
          <p:cNvPicPr>
            <a:picLocks noChangeAspect="1"/>
          </p:cNvPicPr>
          <p:nvPr/>
        </p:nvPicPr>
        <p:blipFill>
          <a:blip r:embed="rId1"/>
          <a:stretch>
            <a:fillRect/>
          </a:stretch>
        </p:blipFill>
        <p:spPr>
          <a:xfrm>
            <a:off x="6492240" y="5449824"/>
            <a:ext cx="5120640" cy="131673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monthly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$1.15bn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$0.56bn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$45.05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870448"/>
            <a:ext cx="67665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Dollar volume is the trailing 126-day daily average; the monthly row is the month's total, and the two differ by roughly the number of trading days. The short book is more liquid than the long book on both.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worked</a:t>
            </a:r>
            <a:endParaRPr lang="en-US" sz="1350" dirty="0"/>
          </a:p>
        </p:txBody>
      </p:sp>
      <p:sp>
        <p:nvSpPr>
          <p:cNvPr id="4" name="Text 2"/>
          <p:cNvSpPr txBox="1"/>
          <p:nvPr/>
        </p:nvSpPr>
        <p:spPr>
          <a:xfrm>
            <a:off x="64008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Construction moved the book from beta -0.537 to -0.159 and cut drawdown from -30% to -6.53%.</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Alpha survives market, size, value and momentum: +15.15%/yr, t=+2.68, R2 0.17. Only value loads at all; the rest are indistinguishable from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long leg has genuine selection skill since 2023: +9.07% over the eligible universe, t +2.7 across 44 months.</a:t>
            </a:r>
            <a:endParaRPr lang="en-US" sz="950" dirty="0"/>
          </a:p>
        </p:txBody>
      </p:sp>
      <p:sp>
        <p:nvSpPr>
          <p:cNvPr id="5" name="Text 3"/>
          <p:cNvSpPr txBox="1"/>
          <p:nvPr/>
        </p:nvSpPr>
        <p:spPr>
          <a:xfrm>
            <a:off x="4434840" y="1207008"/>
            <a:ext cx="3520440" cy="274320"/>
          </a:xfrm>
          <a:prstGeom prst="rect">
            <a:avLst/>
          </a:prstGeom>
          <a:noFill/>
          <a:ln/>
        </p:spPr>
        <p:txBody>
          <a:bodyPr wrap="square" lIns="0" tIns="0" rIns="0" bIns="0" rtlCol="0" anchor="ctr"/>
          <a:lstStyle/>
          <a:p>
            <a:pPr indent="0" marL="0">
              <a:buNone/>
            </a:pPr>
            <a:r>
              <a:rPr lang="en-US" sz="1350" b="1" dirty="0">
                <a:solidFill>
                  <a:srgbClr val="F3C6C0"/>
                </a:solidFill>
                <a:latin typeface="Calibri" pitchFamily="34" charset="0"/>
                <a:ea typeface="Calibri" pitchFamily="34" charset="-122"/>
                <a:cs typeface="Calibri" pitchFamily="34" charset="-120"/>
              </a:rPr>
              <a:t>What did not</a:t>
            </a:r>
            <a:endParaRPr lang="en-US" sz="1350" dirty="0"/>
          </a:p>
        </p:txBody>
      </p:sp>
      <p:sp>
        <p:nvSpPr>
          <p:cNvPr id="6" name="Text 4"/>
          <p:cNvSpPr txBox="1"/>
          <p:nvPr/>
        </p:nvSpPr>
        <p:spPr>
          <a:xfrm>
            <a:off x="443484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8-K signals add nothing measurable, across three independent tests - and the corpus itself is survivorship-linked, which is in the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950" dirty="0"/>
          </a:p>
        </p:txBody>
      </p:sp>
      <p:sp>
        <p:nvSpPr>
          <p:cNvPr id="7" name="Text 5"/>
          <p:cNvSpPr txBox="1"/>
          <p:nvPr/>
        </p:nvSpPr>
        <p:spPr>
          <a:xfrm>
            <a:off x="822960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we would do next</a:t>
            </a:r>
            <a:endParaRPr lang="en-US" sz="1350" dirty="0"/>
          </a:p>
        </p:txBody>
      </p:sp>
      <p:sp>
        <p:nvSpPr>
          <p:cNvPr id="8" name="Text 6"/>
          <p:cNvSpPr txBox="1"/>
          <p:nvPr/>
        </p:nvSpPr>
        <p:spPr>
          <a:xfrm>
            <a:off x="822960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second half of the window runs at +0.62 against +1.12. The later figure is the more honest forward expectation.</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book's job is neutrality, not return. We would size it as a hedge.</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Sector neutrality: 90% of capital sits in sector bets nobody chose. Every arm we tested beats the book on the test period and LOSES to it on the only window the model never saw (-0.66 against -1.05 net of costs), so we report it as untested rather than rejected and did not change the book on evidence our sample cannot resolve.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We evaluated the test period 13 times. Nine followed a diagnosed defect.</a:t>
            </a:r>
            <a:endParaRPr lang="en-US" sz="950" dirty="0"/>
          </a:p>
        </p:txBody>
      </p:sp>
      <p:sp>
        <p:nvSpPr>
          <p:cNvPr id="9" name="Text 7"/>
          <p:cNvSpPr txBox="1"/>
          <p:nvPr/>
        </p:nvSpPr>
        <p:spPr>
          <a:xfrm>
            <a:off x="640080" y="4041648"/>
            <a:ext cx="539496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positions that drove it</a:t>
            </a:r>
            <a:endParaRPr lang="en-US" sz="1250" dirty="0"/>
          </a:p>
        </p:txBody>
      </p:sp>
      <p:sp>
        <p:nvSpPr>
          <p:cNvPr id="10" name="Text 8"/>
          <p:cNvSpPr txBox="1"/>
          <p:nvPr/>
        </p:nvSpPr>
        <p:spPr>
          <a:xfrm>
            <a:off x="640080" y="4352544"/>
            <a:ext cx="539496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MXL, Maxlinear, Inc  +2.33%  (long, 5mo)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CORT, Corcept Therapeutics Inc  +1.89%  (long, 46mo)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AXON, Axon Enterprise Inc  +1.71%  (long, 38mo)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RXT, Rackspace Technology Inc  +1.60%  (short, 17mo)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Largest single loss: MDGL, Madrigal Pharmaceuticals Inc  -3.63%  (short, 26mo) - a short in a biotech that re-rated on trial data. No characteristic in the panel anticipates a readout, which is the honest limit of this approach.</a:t>
            </a:r>
            <a:endParaRPr lang="en-US" sz="900" dirty="0"/>
          </a:p>
        </p:txBody>
      </p:sp>
      <p:sp>
        <p:nvSpPr>
          <p:cNvPr id="11" name="Text 9"/>
          <p:cNvSpPr txBox="1"/>
          <p:nvPr/>
        </p:nvSpPr>
        <p:spPr>
          <a:xfrm>
            <a:off x="6309360" y="4041648"/>
            <a:ext cx="530352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macro backdrop</a:t>
            </a:r>
            <a:endParaRPr lang="en-US" sz="1250" dirty="0"/>
          </a:p>
        </p:txBody>
      </p:sp>
      <p:sp>
        <p:nvSpPr>
          <p:cNvPr id="12" name="Text 10"/>
          <p:cNvSpPr txBox="1"/>
          <p:nvPr/>
        </p:nvSpPr>
        <p:spPr>
          <a:xfrm>
            <a:off x="6309360" y="4352544"/>
            <a:ext cx="530352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2021  +12.95% against the S&amp;P's +26.89%. Post-COVID reflation and the retail speculative peak; the short book carried the year.</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2022  +38.51% while the S&amp;P fell -19.44%. The hiking cycle de-rated long-duration growth - our best year, and the clearest evidence the book is not a disguised long.</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2023-25  AI-led concentration in mega-caps. The short edge disappears and the long leg takes over; +0.46 over those three years.</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2026  +19.99% against +12.28% in eight months, with rolling beta drifting to -0.63 by August - the drift the appendix flags.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2019-20 (validation build)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+25.03%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+0.85%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+5.42%  (t +1.1)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2021-22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+6.12%  (t +1.2)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-15.63%  (t -2.2)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2023-26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+9.07%  (t +2.7)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-0.44%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+6.40%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+8.03%  (t +2.8)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-5.80%  (t -1.5)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intact: -15.63% against the whole universe and -16.36% against its own sectors.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Coverage checked against delistings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Survivorship-linked: see below</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CORPUS IS SURVIVORSHIP-LINKED, and we found it while trying to confirm that our delisted holdings were acquisitions. Of the 59 positions that lose their forward return, only 18 appear in the 8-K data at all - 0 of 11 that vanish in 2021, 0 of 10 in 2022, 0 of 12 in 2023, 0 of 7 in 2024, then 10 of 11 in 2025 and 8 of 8 in 2026. Dunkin' Brands, Fitbit, Varian Medical Systems, Alexion Pharmaceuticals, Maxim Integrated, Luminex and Raven Industries each filed 8-Ks throughout 2015-2020 and have ZERO filings in a dataset that spans 2015-2026. The company list was built from identifiers that still resolve today, so anything acquired before roughly 2025 is simply absent.</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That makes missingness itself a forward-looking variable: a stock-month with no 8-K record is 12.1% likely to vanish within twelve months against 1.2% if covered (t +23.8), and it predicts next-month return at -0.24%/month (t -2.22, Fama-MacBeth). A tree splitting on missingness can therefore see survival information that was not observable at the rebalance date. It is the strongest argument for the exclusion we had already made on other grounds, and it is the most useful thing the text data told us.</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 (FF MKT-RF)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 + momentum</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t=+2.68, R2 0.17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Of the four factor loadings only value is even borderline (t +2.0); market, size and momentum are indistinguishable from zero, and the regression leaves most of the variation unexplained (t=+2.47, R2 0.15).</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Four were genuine trials: the tree model, turnover control, the 8-K feature set, and sector neutrality. The 8-K set was removed after it failed its pre-declared test. Sector neutrality was proposed after the diagnosis that 90% of capital sits in sector positions nobody chose; it was implemented two ways, scored first on the pre-registered 2019-20 window, and then varied across quota rule, smoothing and buffer. It led in 7 of 18 configurations (binomial p = 0.48) and our own conclusion about it reversed three times. It is reported as untested rather than rejected and the book was not changed.</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 The sector work put a number on the limit: this validation window cannot resolve an information-ratio gap below 1.12, and the test period below 0.66, so effects of the size we were chasing are invisible to us either way.</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2026-09-29T03:55:18Z</dcterms:created>
  <dcterms:modified xsi:type="dcterms:W3CDTF">2026-09-29T03:55:18Z</dcterms:modified>
</cp:coreProperties>
</file>