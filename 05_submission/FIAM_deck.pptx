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+38.51% coincides with a -19.44%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Measured against the universe it picks from, the long leg is positive in both halves of the window (+8.03% over the full period, t +2.8). The short leg's own contribution is concentrated in the 2021-22 unwind (-15.63%) and is indistinguishable from zero since. We treat it as the hedge, not as a second source of alpha.</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Mont Royal Carlo</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Zhao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Trees won four of the six folds; Ridge joined the blend in 2022 and 2023, on that fold's validation rank correlation.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Weights are fractions of NAV, summing to 200% gross and +12.5% net. Returns are built as spread = sum of weight x ret_exc_lead1m, total = 3M T-bill + spread, hurdle = 3M T-bill + 4%/12. The rules warn not to assume the risk-free rate inside ret_exc is the T-bill, so we measured it: backed out of the panel it runs 3.111% against the T-bill's 3.281%, and at our net exposure that residual is +0.033%/yr, moving the information ratio by -0.0026. Reported, not assumed.</a:t>
            </a:r>
            <a:endParaRPr lang="en-US" sz="950" dirty="0"/>
          </a:p>
        </p:txBody>
      </p:sp>
      <p:sp>
        <p:nvSpPr>
          <p:cNvPr id="6" name="Text 4"/>
          <p:cNvSpPr txBox="1"/>
          <p:nvPr/>
        </p:nvSpPr>
        <p:spPr>
          <a:xfrm>
            <a:off x="548640" y="422452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OOS R2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Monthly IC</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Gradient-boosted trees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+0.3956%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+0.1354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Ridge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+0.0278%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+0.1193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OLS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-0.0068%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+0.0806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Lasso / Elastic Net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negative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632704"/>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the appendix has all three tests.</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6126480"/>
            <a:ext cx="11064240" cy="658368"/>
          </a:xfrm>
          <a:prstGeom prst="roundRect">
            <a:avLst>
              <a:gd name="adj" fmla="val 6944"/>
            </a:avLst>
          </a:prstGeom>
          <a:solidFill>
            <a:srgbClr val="F2F5FC"/>
          </a:solidFill>
          <a:ln w="12700">
            <a:solidFill>
              <a:srgbClr val="F2F5FC"/>
            </a:solidFill>
            <a:prstDash val="solid"/>
          </a:ln>
        </p:spPr>
      </p:sp>
      <p:sp>
        <p:nvSpPr>
          <p:cNvPr id="14" name="Text 9"/>
          <p:cNvSpPr txBox="1"/>
          <p:nvPr/>
        </p:nvSpPr>
        <p:spPr>
          <a:xfrm>
            <a:off x="749808" y="6190488"/>
            <a:ext cx="10661904" cy="548640"/>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 S&amp;P +104.63%</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017520"/>
            <a:ext cx="11064240" cy="274320"/>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Each leg separately, per month: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long +1.297%, short +0.004%. The short leg contributes almost nothing on average and earns its place by what it removes, not by what it adds.</a:t>
            </a:r>
            <a:endParaRPr lang="en-US" sz="1000" dirty="0"/>
          </a:p>
        </p:txBody>
      </p:sp>
      <p:sp>
        <p:nvSpPr>
          <p:cNvPr id="21" name="Text 19"/>
          <p:cNvSpPr txBox="1"/>
          <p:nvPr/>
        </p:nvSpPr>
        <p:spPr>
          <a:xfrm>
            <a:off x="5486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3" name="Text 20"/>
          <p:cNvSpPr txBox="1"/>
          <p:nvPr/>
        </p:nvSpPr>
        <p:spPr>
          <a:xfrm>
            <a:off x="64922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657600"/>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Leg, measured against the eligible universe</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2021-22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2023-26</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excess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+6.12%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+9.07%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excess (negative is good)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-15.63%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-0.44%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492240" y="4864608"/>
            <a:ext cx="5120640" cy="566928"/>
          </a:xfrm>
          <a:prstGeom prst="rect">
            <a:avLst/>
          </a:prstGeom>
          <a:noFill/>
          <a:ln/>
        </p:spPr>
        <p:txBody>
          <a:bodyPr wrap="square" lIns="0" tIns="0" rIns="0" bIns="0" rtlCol="0" anchor="ctr"/>
          <a:lstStyle/>
          <a:p>
            <a:pPr indent="0" marL="0">
              <a:lnSpc>
                <a:spcPct val="100000"/>
              </a:lnSpc>
              <a:buNone/>
            </a:pPr>
            <a:r>
              <a:rPr lang="en-US" sz="9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long leg is positive in both periods; the short leg's own edge sits in the 2021-22 unwind and is flat afterwards.</a:t>
            </a:r>
            <a:endParaRPr lang="en-US" sz="900" dirty="0"/>
          </a:p>
        </p:txBody>
      </p:sp>
      <p:pic>
        <p:nvPicPr>
          <p:cNvPr id="26" name="Image 0" descr="C:\Users\junho\AppData\Local\Temp\claude\fiam_team\05_submission\figures\histogram.png">    </p:cNvPr>
          <p:cNvPicPr>
            <a:picLocks noChangeAspect="1"/>
          </p:cNvPicPr>
          <p:nvPr/>
        </p:nvPicPr>
        <p:blipFill>
          <a:blip r:embed="rId1"/>
          <a:stretch>
            <a:fillRect/>
          </a:stretch>
        </p:blipFill>
        <p:spPr>
          <a:xfrm>
            <a:off x="6492240" y="5449824"/>
            <a:ext cx="5120640" cy="13167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5216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is the steady part: +8.03% over the eligible universe across 68 months, t +2.8, and positive in both halves (+6.12% then +9.07%).</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carries on;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intact: -15.63% against the whole universe and -16.36% against its own sectors.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Recomputed on the submitted book, the two legs are not symmetric. The long leg is positive in both periods and clears its own standard error over the full window; the short leg's edge is confined to 2021-22. So the framing is not that they take turns - it is that the long leg carries the alpha and the short leg is a hedge that happened to pay during the unwind. Sizing it as a second alpha source would be reading one regime as a rule.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The cleanest version of it is panel-wide and does not depend on which book is current: of the stocks still listed at the panel's end, 93.2% covered (3,260 of 3,497 stocks); of those that left before 2025, 1.6% covered (42 of 2,626 stocks). Dunkin' Brands, Fitbit, Varian Medical Systems, Alexion Pharmaceuticals, Maxim Integrated, Luminex and Raven Industries each filed 8-Ks throughout 2015-2020 and have ZERO filings in a corpus spanning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980944"/>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(t=+2.68, R2 0.17).</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0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21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a:t>
            </a:r>
            <a:endParaRPr lang="en-US" sz="1000" dirty="0"/>
          </a:p>
          <a:p>
            <a:pPr indent="0" marL="0">
              <a:lnSpc>
                <a:spcPct val="102000"/>
              </a:lnSpc>
              <a:buNone/>
            </a:pPr>
            <a:r>
              <a:rPr lang="en-US" sz="1000" dirty="0">
                <a:solidFill>
                  <a:srgbClr val="1A1A1A"/>
                </a:solidFill>
                <a:latin typeface="Calibri" pitchFamily="34" charset="0"/>
                <a:ea typeface="Calibri" pitchFamily="34" charset="-122"/>
                <a:cs typeface="Calibri" pitchFamily="34" charset="-120"/>
              </a:rPr>
              <a:t>The traded book records 0 rule failures across all 68 months. It does breach one standard we set ourselves and the rules do not: 1 of 68 months carry a beta-weighted net beyond +0.30 (worst +0.310 in 2025-08). The beta control sizes the legs to offset the gap between estimated and realised leg beta, so an ex-ante tilt past the threshold can be the construction working as designed - but we report it rather than move the threshold to fit.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2026-09-29T17:26:56Z</dcterms:created>
  <dcterms:modified xsi:type="dcterms:W3CDTF">2026-09-29T17:26:56Z</dcterms:modified>
</cp:coreProperties>
</file>